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6858000" cy="9144000"/>
  <p:embeddedFontLst>
    <p:embeddedFont>
      <p:font typeface="Sansita"/>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8" roundtripDataSignature="AMtx7mj302Mzr0jRxBMLhxR+dnJgif+6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Sansita-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ansita-italic.fntdata"/><Relationship Id="rId25" Type="http://schemas.openxmlformats.org/officeDocument/2006/relationships/font" Target="fonts/Sansita-bold.fntdata"/><Relationship Id="rId28" Type="http://customschemas.google.com/relationships/presentationmetadata" Target="metadata"/><Relationship Id="rId27" Type="http://schemas.openxmlformats.org/officeDocument/2006/relationships/font" Target="fonts/Sansit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1.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2.jpg"/><Relationship Id="rId4" Type="http://schemas.openxmlformats.org/officeDocument/2006/relationships/image" Target="../media/image19.png"/><Relationship Id="rId5"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27.png"/><Relationship Id="rId5" Type="http://schemas.openxmlformats.org/officeDocument/2006/relationships/image" Target="../media/image6.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25.png"/><Relationship Id="rId10" Type="http://schemas.openxmlformats.org/officeDocument/2006/relationships/image" Target="../media/image43.png"/><Relationship Id="rId9"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33.png"/><Relationship Id="rId7" Type="http://schemas.openxmlformats.org/officeDocument/2006/relationships/image" Target="../media/image28.png"/><Relationship Id="rId8"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hyperlink" Target="http://drive.google.com/file/d/1L-20nztGCy2tU02-KJrkCZd4FaXo1q-j/view" TargetMode="External"/><Relationship Id="rId6" Type="http://schemas.openxmlformats.org/officeDocument/2006/relationships/image" Target="../media/image3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026"/>
        </a:solidFill>
      </p:bgPr>
    </p:bg>
    <p:spTree>
      <p:nvGrpSpPr>
        <p:cNvPr id="83" name="Shape 83"/>
        <p:cNvGrpSpPr/>
        <p:nvPr/>
      </p:nvGrpSpPr>
      <p:grpSpPr>
        <a:xfrm>
          <a:off x="0" y="0"/>
          <a:ext cx="0" cy="0"/>
          <a:chOff x="0" y="0"/>
          <a:chExt cx="0" cy="0"/>
        </a:xfrm>
      </p:grpSpPr>
      <p:sp>
        <p:nvSpPr>
          <p:cNvPr id="84" name="Google Shape;84;p1"/>
          <p:cNvSpPr/>
          <p:nvPr/>
        </p:nvSpPr>
        <p:spPr>
          <a:xfrm>
            <a:off x="7028535" y="8609207"/>
            <a:ext cx="3943544" cy="1298185"/>
          </a:xfrm>
          <a:custGeom>
            <a:rect b="b" l="l" r="r" t="t"/>
            <a:pathLst>
              <a:path extrusionOk="0" h="1298185" w="3943544">
                <a:moveTo>
                  <a:pt x="0" y="0"/>
                </a:moveTo>
                <a:lnTo>
                  <a:pt x="3943543" y="0"/>
                </a:lnTo>
                <a:lnTo>
                  <a:pt x="3943543" y="1298186"/>
                </a:lnTo>
                <a:lnTo>
                  <a:pt x="0" y="1298186"/>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3217970" y="4529554"/>
            <a:ext cx="11852059" cy="1951559"/>
          </a:xfrm>
          <a:prstGeom prst="rect">
            <a:avLst/>
          </a:prstGeom>
          <a:noFill/>
          <a:ln>
            <a:noFill/>
          </a:ln>
        </p:spPr>
        <p:txBody>
          <a:bodyPr anchorCtr="0" anchor="t" bIns="0" lIns="0" spcFirstLastPara="1" rIns="0" wrap="square" tIns="0">
            <a:spAutoFit/>
          </a:bodyPr>
          <a:lstStyle/>
          <a:p>
            <a:pPr indent="0" lvl="0" marL="0" marR="0" rtl="0" algn="ctr">
              <a:lnSpc>
                <a:spcPct val="105996"/>
              </a:lnSpc>
              <a:spcBef>
                <a:spcPts val="0"/>
              </a:spcBef>
              <a:spcAft>
                <a:spcPts val="0"/>
              </a:spcAft>
              <a:buNone/>
            </a:pPr>
            <a:r>
              <a:rPr b="1" i="0" lang="en-US" sz="6987" u="none" cap="none" strike="noStrike">
                <a:solidFill>
                  <a:srgbClr val="FFFFFF"/>
                </a:solidFill>
                <a:latin typeface="Arial"/>
                <a:ea typeface="Arial"/>
                <a:cs typeface="Arial"/>
                <a:sym typeface="Arial"/>
              </a:rPr>
              <a:t>PROYECTO “FINANTRACK”</a:t>
            </a:r>
            <a:endParaRPr/>
          </a:p>
        </p:txBody>
      </p:sp>
      <p:sp>
        <p:nvSpPr>
          <p:cNvPr id="86" name="Google Shape;86;p1"/>
          <p:cNvSpPr txBox="1"/>
          <p:nvPr/>
        </p:nvSpPr>
        <p:spPr>
          <a:xfrm>
            <a:off x="5266149" y="6509688"/>
            <a:ext cx="7755702" cy="349250"/>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0" i="1" lang="en-US" sz="2500" u="none" cap="none" strike="noStrike">
                <a:solidFill>
                  <a:srgbClr val="FFFFFF"/>
                </a:solidFill>
                <a:latin typeface="Sansita"/>
                <a:ea typeface="Sansita"/>
                <a:cs typeface="Sansita"/>
                <a:sym typeface="Sansita"/>
              </a:rPr>
              <a:t>/ PRESENTACIÓN FINAL PORTAFOLIO DE TÍTULO/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026"/>
        </a:solidFill>
      </p:bgPr>
    </p:bg>
    <p:spTree>
      <p:nvGrpSpPr>
        <p:cNvPr id="90" name="Shape 90"/>
        <p:cNvGrpSpPr/>
        <p:nvPr/>
      </p:nvGrpSpPr>
      <p:grpSpPr>
        <a:xfrm>
          <a:off x="0" y="0"/>
          <a:ext cx="0" cy="0"/>
          <a:chOff x="0" y="0"/>
          <a:chExt cx="0" cy="0"/>
        </a:xfrm>
      </p:grpSpPr>
      <p:sp>
        <p:nvSpPr>
          <p:cNvPr id="91" name="Google Shape;91;p2"/>
          <p:cNvSpPr/>
          <p:nvPr/>
        </p:nvSpPr>
        <p:spPr>
          <a:xfrm>
            <a:off x="15768259" y="7922668"/>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92" name="Google Shape;92;p2"/>
          <p:cNvSpPr/>
          <p:nvPr/>
        </p:nvSpPr>
        <p:spPr>
          <a:xfrm>
            <a:off x="-1000562" y="451085"/>
            <a:ext cx="2767019" cy="1155231"/>
          </a:xfrm>
          <a:custGeom>
            <a:rect b="b" l="l" r="r" t="t"/>
            <a:pathLst>
              <a:path extrusionOk="0" h="1155231" w="2767019">
                <a:moveTo>
                  <a:pt x="0" y="0"/>
                </a:moveTo>
                <a:lnTo>
                  <a:pt x="2767019" y="0"/>
                </a:lnTo>
                <a:lnTo>
                  <a:pt x="2767019" y="1155230"/>
                </a:lnTo>
                <a:lnTo>
                  <a:pt x="0" y="1155230"/>
                </a:lnTo>
                <a:lnTo>
                  <a:pt x="0" y="0"/>
                </a:lnTo>
                <a:close/>
              </a:path>
            </a:pathLst>
          </a:custGeom>
          <a:blipFill rotWithShape="1">
            <a:blip r:embed="rId4">
              <a:alphaModFix/>
            </a:blip>
            <a:stretch>
              <a:fillRect b="0" l="0" r="0" t="0"/>
            </a:stretch>
          </a:blipFill>
          <a:ln>
            <a:noFill/>
          </a:ln>
        </p:spPr>
      </p:sp>
      <p:grpSp>
        <p:nvGrpSpPr>
          <p:cNvPr id="93" name="Google Shape;93;p2"/>
          <p:cNvGrpSpPr/>
          <p:nvPr/>
        </p:nvGrpSpPr>
        <p:grpSpPr>
          <a:xfrm>
            <a:off x="1301803" y="2184282"/>
            <a:ext cx="8082400" cy="5974734"/>
            <a:chOff x="0" y="0"/>
            <a:chExt cx="10776533" cy="7966312"/>
          </a:xfrm>
        </p:grpSpPr>
        <p:sp>
          <p:nvSpPr>
            <p:cNvPr id="94" name="Google Shape;94;p2"/>
            <p:cNvSpPr txBox="1"/>
            <p:nvPr/>
          </p:nvSpPr>
          <p:spPr>
            <a:xfrm>
              <a:off x="1629151" y="279903"/>
              <a:ext cx="9147381" cy="1314873"/>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i="0" lang="en-US" sz="3500" u="none" cap="none" strike="noStrike">
                  <a:solidFill>
                    <a:srgbClr val="DFD5CF"/>
                  </a:solidFill>
                  <a:latin typeface="Arial"/>
                  <a:ea typeface="Arial"/>
                  <a:cs typeface="Arial"/>
                  <a:sym typeface="Arial"/>
                </a:rPr>
                <a:t>INTEGRANTES DEL PROYECTO</a:t>
              </a:r>
              <a:endParaRPr/>
            </a:p>
          </p:txBody>
        </p:sp>
        <p:sp>
          <p:nvSpPr>
            <p:cNvPr id="95" name="Google Shape;95;p2"/>
            <p:cNvSpPr txBox="1"/>
            <p:nvPr/>
          </p:nvSpPr>
          <p:spPr>
            <a:xfrm>
              <a:off x="385135" y="1800237"/>
              <a:ext cx="10391398" cy="61660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2260" u="none" cap="none" strike="noStrike">
                  <a:solidFill>
                    <a:srgbClr val="DFD5CF"/>
                  </a:solidFill>
                  <a:latin typeface="Arial"/>
                  <a:ea typeface="Arial"/>
                  <a:cs typeface="Arial"/>
                  <a:sym typeface="Arial"/>
                </a:rPr>
                <a:t>Rodrigo Concha P.</a:t>
              </a:r>
              <a:endParaRPr/>
            </a:p>
            <a:p>
              <a:pPr indent="0" lvl="0" marL="0" marR="0" rtl="0" algn="l">
                <a:lnSpc>
                  <a:spcPct val="125000"/>
                </a:lnSpc>
                <a:spcBef>
                  <a:spcPts val="0"/>
                </a:spcBef>
                <a:spcAft>
                  <a:spcPts val="0"/>
                </a:spcAft>
                <a:buNone/>
              </a:pPr>
              <a:r>
                <a:rPr b="0" i="0" lang="en-US" sz="2260" u="none" cap="none" strike="noStrike">
                  <a:solidFill>
                    <a:srgbClr val="DFD5CF"/>
                  </a:solidFill>
                  <a:latin typeface="Arial"/>
                  <a:ea typeface="Arial"/>
                  <a:cs typeface="Arial"/>
                  <a:sym typeface="Arial"/>
                </a:rPr>
                <a:t>Líder de Desarrollo Backend</a:t>
              </a:r>
              <a:endParaRPr/>
            </a:p>
            <a:p>
              <a:pPr indent="0" lvl="0" marL="0" marR="0" rtl="0" algn="l">
                <a:lnSpc>
                  <a:spcPct val="125000"/>
                </a:lnSpc>
                <a:spcBef>
                  <a:spcPts val="0"/>
                </a:spcBef>
                <a:spcAft>
                  <a:spcPts val="0"/>
                </a:spcAft>
                <a:buNone/>
              </a:pPr>
              <a:r>
                <a:rPr b="0" i="0" lang="en-US" sz="2260" u="none" cap="none" strike="noStrike">
                  <a:solidFill>
                    <a:srgbClr val="DFD5CF"/>
                  </a:solidFill>
                  <a:latin typeface="Arial"/>
                  <a:ea typeface="Arial"/>
                  <a:cs typeface="Arial"/>
                  <a:sym typeface="Arial"/>
                </a:rPr>
                <a:t>Funciones desempeñadas</a:t>
              </a:r>
              <a:endParaRPr/>
            </a:p>
            <a:p>
              <a:pPr indent="-243996" lvl="1" marL="487994" marR="0" rtl="0" algn="l">
                <a:lnSpc>
                  <a:spcPct val="125000"/>
                </a:lnSpc>
                <a:spcBef>
                  <a:spcPts val="0"/>
                </a:spcBef>
                <a:spcAft>
                  <a:spcPts val="0"/>
                </a:spcAft>
                <a:buClr>
                  <a:srgbClr val="DFD5CF"/>
                </a:buClr>
                <a:buSzPts val="2260"/>
                <a:buFont typeface="Arial"/>
                <a:buChar char="•"/>
              </a:pPr>
              <a:r>
                <a:rPr b="0" i="0" lang="en-US" sz="2260" u="none" cap="none" strike="noStrike">
                  <a:solidFill>
                    <a:srgbClr val="DFD5CF"/>
                  </a:solidFill>
                  <a:latin typeface="Arial"/>
                  <a:ea typeface="Arial"/>
                  <a:cs typeface="Arial"/>
                  <a:sym typeface="Arial"/>
                </a:rPr>
                <a:t>Análisis y estructuración de los datos de las cartolas bancarias.</a:t>
              </a:r>
              <a:endParaRPr/>
            </a:p>
            <a:p>
              <a:pPr indent="-243996" lvl="1" marL="487994" marR="0" rtl="0" algn="l">
                <a:lnSpc>
                  <a:spcPct val="125000"/>
                </a:lnSpc>
                <a:spcBef>
                  <a:spcPts val="0"/>
                </a:spcBef>
                <a:spcAft>
                  <a:spcPts val="0"/>
                </a:spcAft>
                <a:buClr>
                  <a:srgbClr val="DFD5CF"/>
                </a:buClr>
                <a:buSzPts val="2260"/>
                <a:buFont typeface="Arial"/>
                <a:buChar char="•"/>
              </a:pPr>
              <a:r>
                <a:rPr b="0" i="0" lang="en-US" sz="2260" u="none" cap="none" strike="noStrike">
                  <a:solidFill>
                    <a:srgbClr val="DFD5CF"/>
                  </a:solidFill>
                  <a:latin typeface="Arial"/>
                  <a:ea typeface="Arial"/>
                  <a:cs typeface="Arial"/>
                  <a:sym typeface="Arial"/>
                </a:rPr>
                <a:t>Desarrollo del backend con Python y Django.</a:t>
              </a:r>
              <a:endParaRPr/>
            </a:p>
            <a:p>
              <a:pPr indent="-243996" lvl="1" marL="487994" marR="0" rtl="0" algn="l">
                <a:lnSpc>
                  <a:spcPct val="125000"/>
                </a:lnSpc>
                <a:spcBef>
                  <a:spcPts val="0"/>
                </a:spcBef>
                <a:spcAft>
                  <a:spcPts val="0"/>
                </a:spcAft>
                <a:buClr>
                  <a:srgbClr val="DFD5CF"/>
                </a:buClr>
                <a:buSzPts val="2260"/>
                <a:buFont typeface="Arial"/>
                <a:buChar char="•"/>
              </a:pPr>
              <a:r>
                <a:rPr b="0" i="0" lang="en-US" sz="2260" u="none" cap="none" strike="noStrike">
                  <a:solidFill>
                    <a:srgbClr val="DFD5CF"/>
                  </a:solidFill>
                  <a:latin typeface="Arial"/>
                  <a:ea typeface="Arial"/>
                  <a:cs typeface="Arial"/>
                  <a:sym typeface="Arial"/>
                </a:rPr>
                <a:t>Implementación de la base de datos en SQLite.</a:t>
              </a:r>
              <a:endParaRPr/>
            </a:p>
            <a:p>
              <a:pPr indent="-243996" lvl="1" marL="487994" marR="0" rtl="0" algn="l">
                <a:lnSpc>
                  <a:spcPct val="125000"/>
                </a:lnSpc>
                <a:spcBef>
                  <a:spcPts val="0"/>
                </a:spcBef>
                <a:spcAft>
                  <a:spcPts val="0"/>
                </a:spcAft>
                <a:buClr>
                  <a:srgbClr val="DFD5CF"/>
                </a:buClr>
                <a:buSzPts val="2260"/>
                <a:buFont typeface="Arial"/>
                <a:buChar char="•"/>
              </a:pPr>
              <a:r>
                <a:rPr b="0" i="0" lang="en-US" sz="2260" u="none" cap="none" strike="noStrike">
                  <a:solidFill>
                    <a:srgbClr val="DFD5CF"/>
                  </a:solidFill>
                  <a:latin typeface="Arial"/>
                  <a:ea typeface="Arial"/>
                  <a:cs typeface="Arial"/>
                  <a:sym typeface="Arial"/>
                </a:rPr>
                <a:t>Lógica de categorización de gastos y generación de estadísticas.</a:t>
              </a:r>
              <a:endParaRPr/>
            </a:p>
            <a:p>
              <a:pPr indent="-243996" lvl="1" marL="487994" marR="0" rtl="0" algn="l">
                <a:lnSpc>
                  <a:spcPct val="125000"/>
                </a:lnSpc>
                <a:spcBef>
                  <a:spcPts val="0"/>
                </a:spcBef>
                <a:spcAft>
                  <a:spcPts val="0"/>
                </a:spcAft>
                <a:buClr>
                  <a:srgbClr val="DFD5CF"/>
                </a:buClr>
                <a:buSzPts val="2260"/>
                <a:buFont typeface="Arial"/>
                <a:buChar char="•"/>
              </a:pPr>
              <a:r>
                <a:rPr b="0" i="0" lang="en-US" sz="2260" u="none" cap="none" strike="noStrike">
                  <a:solidFill>
                    <a:srgbClr val="DFD5CF"/>
                  </a:solidFill>
                  <a:latin typeface="Arial"/>
                  <a:ea typeface="Arial"/>
                  <a:cs typeface="Arial"/>
                  <a:sym typeface="Arial"/>
                </a:rPr>
                <a:t>Apoyo en pruebas y validación funcional del sistema.</a:t>
              </a:r>
              <a:endParaRPr/>
            </a:p>
            <a:p>
              <a:pPr indent="0" lvl="0" marL="0" marR="0" rtl="0" algn="l">
                <a:lnSpc>
                  <a:spcPct val="125000"/>
                </a:lnSpc>
                <a:spcBef>
                  <a:spcPts val="0"/>
                </a:spcBef>
                <a:spcAft>
                  <a:spcPts val="0"/>
                </a:spcAft>
                <a:buNone/>
              </a:pPr>
              <a:r>
                <a:t/>
              </a:r>
              <a:endParaRPr b="0" i="0" sz="2260" u="none" cap="none" strike="noStrike">
                <a:solidFill>
                  <a:srgbClr val="DFD5CF"/>
                </a:solidFill>
                <a:latin typeface="Arial"/>
                <a:ea typeface="Arial"/>
                <a:cs typeface="Arial"/>
                <a:sym typeface="Arial"/>
              </a:endParaRPr>
            </a:p>
            <a:p>
              <a:pPr indent="0" lvl="0" marL="0" marR="0" rtl="0" algn="l">
                <a:lnSpc>
                  <a:spcPct val="125000"/>
                </a:lnSpc>
                <a:spcBef>
                  <a:spcPts val="0"/>
                </a:spcBef>
                <a:spcAft>
                  <a:spcPts val="0"/>
                </a:spcAft>
                <a:buNone/>
              </a:pPr>
              <a:r>
                <a:t/>
              </a:r>
              <a:endParaRPr b="0" i="0" sz="2260" u="none" cap="none" strike="noStrike">
                <a:solidFill>
                  <a:srgbClr val="DFD5CF"/>
                </a:solidFill>
                <a:latin typeface="Arial"/>
                <a:ea typeface="Arial"/>
                <a:cs typeface="Arial"/>
                <a:sym typeface="Arial"/>
              </a:endParaRPr>
            </a:p>
          </p:txBody>
        </p:sp>
        <p:sp>
          <p:nvSpPr>
            <p:cNvPr id="96" name="Google Shape;96;p2"/>
            <p:cNvSpPr/>
            <p:nvPr/>
          </p:nvSpPr>
          <p:spPr>
            <a:xfrm>
              <a:off x="0" y="0"/>
              <a:ext cx="1233690" cy="1233690"/>
            </a:xfrm>
            <a:custGeom>
              <a:rect b="b" l="l" r="r" t="t"/>
              <a:pathLst>
                <a:path extrusionOk="0" h="1233690" w="1233690">
                  <a:moveTo>
                    <a:pt x="0" y="0"/>
                  </a:moveTo>
                  <a:lnTo>
                    <a:pt x="1233690" y="0"/>
                  </a:lnTo>
                  <a:lnTo>
                    <a:pt x="1233690" y="1233690"/>
                  </a:lnTo>
                  <a:lnTo>
                    <a:pt x="0" y="1233690"/>
                  </a:lnTo>
                  <a:lnTo>
                    <a:pt x="0" y="0"/>
                  </a:lnTo>
                  <a:close/>
                </a:path>
              </a:pathLst>
            </a:custGeom>
            <a:blipFill rotWithShape="1">
              <a:blip r:embed="rId5">
                <a:alphaModFix/>
              </a:blip>
              <a:stretch>
                <a:fillRect b="0" l="0" r="0" t="0"/>
              </a:stretch>
            </a:blipFill>
            <a:ln>
              <a:noFill/>
            </a:ln>
          </p:spPr>
        </p:sp>
        <p:sp>
          <p:nvSpPr>
            <p:cNvPr id="97" name="Google Shape;97;p2"/>
            <p:cNvSpPr txBox="1"/>
            <p:nvPr/>
          </p:nvSpPr>
          <p:spPr>
            <a:xfrm>
              <a:off x="322090" y="332856"/>
              <a:ext cx="615484" cy="580103"/>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3067" u="none" cap="none" strike="noStrike">
                  <a:solidFill>
                    <a:srgbClr val="B8D1EA"/>
                  </a:solidFill>
                  <a:latin typeface="Arial"/>
                  <a:ea typeface="Arial"/>
                  <a:cs typeface="Arial"/>
                  <a:sym typeface="Arial"/>
                </a:rPr>
                <a:t>1</a:t>
              </a:r>
              <a:endParaRPr/>
            </a:p>
          </p:txBody>
        </p:sp>
      </p:grpSp>
      <p:sp>
        <p:nvSpPr>
          <p:cNvPr id="98" name="Google Shape;98;p2"/>
          <p:cNvSpPr/>
          <p:nvPr/>
        </p:nvSpPr>
        <p:spPr>
          <a:xfrm>
            <a:off x="10980848" y="3744570"/>
            <a:ext cx="4335588" cy="4178099"/>
          </a:xfrm>
          <a:custGeom>
            <a:rect b="b" l="l" r="r" t="t"/>
            <a:pathLst>
              <a:path extrusionOk="0" h="4178099" w="4335588">
                <a:moveTo>
                  <a:pt x="0" y="0"/>
                </a:moveTo>
                <a:lnTo>
                  <a:pt x="4335588" y="0"/>
                </a:lnTo>
                <a:lnTo>
                  <a:pt x="4335588" y="4178098"/>
                </a:lnTo>
                <a:lnTo>
                  <a:pt x="0" y="4178098"/>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026"/>
        </a:solidFill>
      </p:bgPr>
    </p:bg>
    <p:spTree>
      <p:nvGrpSpPr>
        <p:cNvPr id="102" name="Shape 102"/>
        <p:cNvGrpSpPr/>
        <p:nvPr/>
      </p:nvGrpSpPr>
      <p:grpSpPr>
        <a:xfrm>
          <a:off x="0" y="0"/>
          <a:ext cx="0" cy="0"/>
          <a:chOff x="0" y="0"/>
          <a:chExt cx="0" cy="0"/>
        </a:xfrm>
      </p:grpSpPr>
      <p:sp>
        <p:nvSpPr>
          <p:cNvPr id="103" name="Google Shape;103;p3"/>
          <p:cNvSpPr/>
          <p:nvPr/>
        </p:nvSpPr>
        <p:spPr>
          <a:xfrm>
            <a:off x="15768259" y="7922668"/>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104" name="Google Shape;104;p3"/>
          <p:cNvSpPr/>
          <p:nvPr/>
        </p:nvSpPr>
        <p:spPr>
          <a:xfrm>
            <a:off x="-1000562" y="451085"/>
            <a:ext cx="2767019" cy="1155231"/>
          </a:xfrm>
          <a:custGeom>
            <a:rect b="b" l="l" r="r" t="t"/>
            <a:pathLst>
              <a:path extrusionOk="0" h="1155231" w="2767019">
                <a:moveTo>
                  <a:pt x="0" y="0"/>
                </a:moveTo>
                <a:lnTo>
                  <a:pt x="2767019" y="0"/>
                </a:lnTo>
                <a:lnTo>
                  <a:pt x="2767019" y="1155230"/>
                </a:lnTo>
                <a:lnTo>
                  <a:pt x="0" y="1155230"/>
                </a:lnTo>
                <a:lnTo>
                  <a:pt x="0" y="0"/>
                </a:lnTo>
                <a:close/>
              </a:path>
            </a:pathLst>
          </a:custGeom>
          <a:blipFill rotWithShape="1">
            <a:blip r:embed="rId4">
              <a:alphaModFix/>
            </a:blip>
            <a:stretch>
              <a:fillRect b="0" l="0" r="0" t="0"/>
            </a:stretch>
          </a:blipFill>
          <a:ln>
            <a:noFill/>
          </a:ln>
        </p:spPr>
      </p:sp>
      <p:grpSp>
        <p:nvGrpSpPr>
          <p:cNvPr id="105" name="Google Shape;105;p3"/>
          <p:cNvGrpSpPr/>
          <p:nvPr/>
        </p:nvGrpSpPr>
        <p:grpSpPr>
          <a:xfrm>
            <a:off x="1301803" y="2184282"/>
            <a:ext cx="8082400" cy="6331024"/>
            <a:chOff x="0" y="0"/>
            <a:chExt cx="10776533" cy="8441365"/>
          </a:xfrm>
        </p:grpSpPr>
        <p:sp>
          <p:nvSpPr>
            <p:cNvPr id="106" name="Google Shape;106;p3"/>
            <p:cNvSpPr txBox="1"/>
            <p:nvPr/>
          </p:nvSpPr>
          <p:spPr>
            <a:xfrm>
              <a:off x="1629151" y="279903"/>
              <a:ext cx="9147381" cy="1314873"/>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i="0" lang="en-US" sz="3500" u="none" cap="none" strike="noStrike">
                  <a:solidFill>
                    <a:srgbClr val="DFD5CF"/>
                  </a:solidFill>
                  <a:latin typeface="Arial"/>
                  <a:ea typeface="Arial"/>
                  <a:cs typeface="Arial"/>
                  <a:sym typeface="Arial"/>
                </a:rPr>
                <a:t>INTEGRANTES DEL PROYECTO</a:t>
              </a:r>
              <a:endParaRPr/>
            </a:p>
          </p:txBody>
        </p:sp>
        <p:sp>
          <p:nvSpPr>
            <p:cNvPr id="107" name="Google Shape;107;p3"/>
            <p:cNvSpPr txBox="1"/>
            <p:nvPr/>
          </p:nvSpPr>
          <p:spPr>
            <a:xfrm>
              <a:off x="385135" y="1800237"/>
              <a:ext cx="10391398" cy="6641128"/>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2260" u="none" cap="none" strike="noStrike">
                  <a:solidFill>
                    <a:srgbClr val="DFD5CF"/>
                  </a:solidFill>
                  <a:latin typeface="Arial"/>
                  <a:ea typeface="Arial"/>
                  <a:cs typeface="Arial"/>
                  <a:sym typeface="Arial"/>
                </a:rPr>
                <a:t>Felipe Tripayante</a:t>
              </a:r>
              <a:endParaRPr/>
            </a:p>
            <a:p>
              <a:pPr indent="0" lvl="0" marL="0" marR="0" rtl="0" algn="l">
                <a:lnSpc>
                  <a:spcPct val="125000"/>
                </a:lnSpc>
                <a:spcBef>
                  <a:spcPts val="0"/>
                </a:spcBef>
                <a:spcAft>
                  <a:spcPts val="0"/>
                </a:spcAft>
                <a:buNone/>
              </a:pPr>
              <a:r>
                <a:rPr b="0" i="0" lang="en-US" sz="2260" u="none" cap="none" strike="noStrike">
                  <a:solidFill>
                    <a:srgbClr val="DFD5CF"/>
                  </a:solidFill>
                  <a:latin typeface="Arial"/>
                  <a:ea typeface="Arial"/>
                  <a:cs typeface="Arial"/>
                  <a:sym typeface="Arial"/>
                </a:rPr>
                <a:t>Líder de Desarrollo Frontend y Documentación</a:t>
              </a:r>
              <a:endParaRPr/>
            </a:p>
            <a:p>
              <a:pPr indent="0" lvl="0" marL="0" marR="0" rtl="0" algn="l">
                <a:lnSpc>
                  <a:spcPct val="125000"/>
                </a:lnSpc>
                <a:spcBef>
                  <a:spcPts val="0"/>
                </a:spcBef>
                <a:spcAft>
                  <a:spcPts val="0"/>
                </a:spcAft>
                <a:buNone/>
              </a:pPr>
              <a:r>
                <a:rPr b="0" i="0" lang="en-US" sz="2260" u="none" cap="none" strike="noStrike">
                  <a:solidFill>
                    <a:srgbClr val="DFD5CF"/>
                  </a:solidFill>
                  <a:latin typeface="Arial"/>
                  <a:ea typeface="Arial"/>
                  <a:cs typeface="Arial"/>
                  <a:sym typeface="Arial"/>
                </a:rPr>
                <a:t>Funciones desempeñada:</a:t>
              </a:r>
              <a:endParaRPr/>
            </a:p>
            <a:p>
              <a:pPr indent="-243996" lvl="1" marL="487994" marR="0" rtl="0" algn="l">
                <a:lnSpc>
                  <a:spcPct val="125000"/>
                </a:lnSpc>
                <a:spcBef>
                  <a:spcPts val="0"/>
                </a:spcBef>
                <a:spcAft>
                  <a:spcPts val="0"/>
                </a:spcAft>
                <a:buClr>
                  <a:srgbClr val="DFD5CF"/>
                </a:buClr>
                <a:buSzPts val="2260"/>
                <a:buFont typeface="Arial"/>
                <a:buChar char="•"/>
              </a:pPr>
              <a:r>
                <a:rPr b="0" i="0" lang="en-US" sz="2260" u="none" cap="none" strike="noStrike">
                  <a:solidFill>
                    <a:srgbClr val="DFD5CF"/>
                  </a:solidFill>
                  <a:latin typeface="Arial"/>
                  <a:ea typeface="Arial"/>
                  <a:cs typeface="Arial"/>
                  <a:sym typeface="Arial"/>
                </a:rPr>
                <a:t>Diseño de la interfaz web en HTML, CSS y templates de Django.</a:t>
              </a:r>
              <a:endParaRPr/>
            </a:p>
            <a:p>
              <a:pPr indent="-243996" lvl="1" marL="487994" marR="0" rtl="0" algn="l">
                <a:lnSpc>
                  <a:spcPct val="125000"/>
                </a:lnSpc>
                <a:spcBef>
                  <a:spcPts val="0"/>
                </a:spcBef>
                <a:spcAft>
                  <a:spcPts val="0"/>
                </a:spcAft>
                <a:buClr>
                  <a:srgbClr val="DFD5CF"/>
                </a:buClr>
                <a:buSzPts val="2260"/>
                <a:buFont typeface="Arial"/>
                <a:buChar char="•"/>
              </a:pPr>
              <a:r>
                <a:rPr b="0" i="0" lang="en-US" sz="2260" u="none" cap="none" strike="noStrike">
                  <a:solidFill>
                    <a:srgbClr val="DFD5CF"/>
                  </a:solidFill>
                  <a:latin typeface="Arial"/>
                  <a:ea typeface="Arial"/>
                  <a:cs typeface="Arial"/>
                  <a:sym typeface="Arial"/>
                </a:rPr>
                <a:t>Integración del frontend con el backend.</a:t>
              </a:r>
              <a:endParaRPr/>
            </a:p>
            <a:p>
              <a:pPr indent="-243996" lvl="1" marL="487994" marR="0" rtl="0" algn="l">
                <a:lnSpc>
                  <a:spcPct val="125000"/>
                </a:lnSpc>
                <a:spcBef>
                  <a:spcPts val="0"/>
                </a:spcBef>
                <a:spcAft>
                  <a:spcPts val="0"/>
                </a:spcAft>
                <a:buClr>
                  <a:srgbClr val="DFD5CF"/>
                </a:buClr>
                <a:buSzPts val="2260"/>
                <a:buFont typeface="Arial"/>
                <a:buChar char="•"/>
              </a:pPr>
              <a:r>
                <a:rPr b="0" i="0" lang="en-US" sz="2260" u="none" cap="none" strike="noStrike">
                  <a:solidFill>
                    <a:srgbClr val="DFD5CF"/>
                  </a:solidFill>
                  <a:latin typeface="Arial"/>
                  <a:ea typeface="Arial"/>
                  <a:cs typeface="Arial"/>
                  <a:sym typeface="Arial"/>
                </a:rPr>
                <a:t>Redacción y actualización de la documentación del sistema.</a:t>
              </a:r>
              <a:endParaRPr/>
            </a:p>
            <a:p>
              <a:pPr indent="-243996" lvl="1" marL="487994" marR="0" rtl="0" algn="l">
                <a:lnSpc>
                  <a:spcPct val="125000"/>
                </a:lnSpc>
                <a:spcBef>
                  <a:spcPts val="0"/>
                </a:spcBef>
                <a:spcAft>
                  <a:spcPts val="0"/>
                </a:spcAft>
                <a:buClr>
                  <a:srgbClr val="DFD5CF"/>
                </a:buClr>
                <a:buSzPts val="2260"/>
                <a:buFont typeface="Arial"/>
                <a:buChar char="•"/>
              </a:pPr>
              <a:r>
                <a:rPr b="0" i="0" lang="en-US" sz="2260" u="none" cap="none" strike="noStrike">
                  <a:solidFill>
                    <a:srgbClr val="DFD5CF"/>
                  </a:solidFill>
                  <a:latin typeface="Arial"/>
                  <a:ea typeface="Arial"/>
                  <a:cs typeface="Arial"/>
                  <a:sym typeface="Arial"/>
                </a:rPr>
                <a:t>Apoyo en la selección de tecnologías y definición del flujo de usuario.</a:t>
              </a:r>
              <a:endParaRPr/>
            </a:p>
            <a:p>
              <a:pPr indent="-243996" lvl="1" marL="487994" marR="0" rtl="0" algn="l">
                <a:lnSpc>
                  <a:spcPct val="125000"/>
                </a:lnSpc>
                <a:spcBef>
                  <a:spcPts val="0"/>
                </a:spcBef>
                <a:spcAft>
                  <a:spcPts val="0"/>
                </a:spcAft>
                <a:buClr>
                  <a:srgbClr val="DFD5CF"/>
                </a:buClr>
                <a:buSzPts val="2260"/>
                <a:buFont typeface="Arial"/>
                <a:buChar char="•"/>
              </a:pPr>
              <a:r>
                <a:rPr b="0" i="0" lang="en-US" sz="2260" u="none" cap="none" strike="noStrike">
                  <a:solidFill>
                    <a:srgbClr val="DFD5CF"/>
                  </a:solidFill>
                  <a:latin typeface="Arial"/>
                  <a:ea typeface="Arial"/>
                  <a:cs typeface="Arial"/>
                  <a:sym typeface="Arial"/>
                </a:rPr>
                <a:t>Coordinación de actividades según metodología en cascada.</a:t>
              </a:r>
              <a:endParaRPr/>
            </a:p>
            <a:p>
              <a:pPr indent="0" lvl="0" marL="0" marR="0" rtl="0" algn="l">
                <a:lnSpc>
                  <a:spcPct val="125000"/>
                </a:lnSpc>
                <a:spcBef>
                  <a:spcPts val="0"/>
                </a:spcBef>
                <a:spcAft>
                  <a:spcPts val="0"/>
                </a:spcAft>
                <a:buNone/>
              </a:pPr>
              <a:r>
                <a:t/>
              </a:r>
              <a:endParaRPr b="0" i="0" sz="2260" u="none" cap="none" strike="noStrike">
                <a:solidFill>
                  <a:srgbClr val="DFD5CF"/>
                </a:solidFill>
                <a:latin typeface="Arial"/>
                <a:ea typeface="Arial"/>
                <a:cs typeface="Arial"/>
                <a:sym typeface="Arial"/>
              </a:endParaRPr>
            </a:p>
            <a:p>
              <a:pPr indent="0" lvl="0" marL="0" marR="0" rtl="0" algn="l">
                <a:lnSpc>
                  <a:spcPct val="125000"/>
                </a:lnSpc>
                <a:spcBef>
                  <a:spcPts val="0"/>
                </a:spcBef>
                <a:spcAft>
                  <a:spcPts val="0"/>
                </a:spcAft>
                <a:buNone/>
              </a:pPr>
              <a:r>
                <a:t/>
              </a:r>
              <a:endParaRPr b="0" i="0" sz="2260" u="none" cap="none" strike="noStrike">
                <a:solidFill>
                  <a:srgbClr val="DFD5CF"/>
                </a:solidFill>
                <a:latin typeface="Arial"/>
                <a:ea typeface="Arial"/>
                <a:cs typeface="Arial"/>
                <a:sym typeface="Arial"/>
              </a:endParaRPr>
            </a:p>
          </p:txBody>
        </p:sp>
        <p:sp>
          <p:nvSpPr>
            <p:cNvPr id="108" name="Google Shape;108;p3"/>
            <p:cNvSpPr/>
            <p:nvPr/>
          </p:nvSpPr>
          <p:spPr>
            <a:xfrm>
              <a:off x="0" y="0"/>
              <a:ext cx="1233690" cy="1233690"/>
            </a:xfrm>
            <a:custGeom>
              <a:rect b="b" l="l" r="r" t="t"/>
              <a:pathLst>
                <a:path extrusionOk="0" h="1233690" w="1233690">
                  <a:moveTo>
                    <a:pt x="0" y="0"/>
                  </a:moveTo>
                  <a:lnTo>
                    <a:pt x="1233690" y="0"/>
                  </a:lnTo>
                  <a:lnTo>
                    <a:pt x="1233690" y="1233690"/>
                  </a:lnTo>
                  <a:lnTo>
                    <a:pt x="0" y="1233690"/>
                  </a:lnTo>
                  <a:lnTo>
                    <a:pt x="0" y="0"/>
                  </a:lnTo>
                  <a:close/>
                </a:path>
              </a:pathLst>
            </a:custGeom>
            <a:blipFill rotWithShape="1">
              <a:blip r:embed="rId5">
                <a:alphaModFix/>
              </a:blip>
              <a:stretch>
                <a:fillRect b="0" l="0" r="0" t="0"/>
              </a:stretch>
            </a:blipFill>
            <a:ln>
              <a:noFill/>
            </a:ln>
          </p:spPr>
        </p:sp>
        <p:sp>
          <p:nvSpPr>
            <p:cNvPr id="109" name="Google Shape;109;p3"/>
            <p:cNvSpPr txBox="1"/>
            <p:nvPr/>
          </p:nvSpPr>
          <p:spPr>
            <a:xfrm>
              <a:off x="322090" y="332856"/>
              <a:ext cx="615484" cy="580103"/>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3067" u="none" cap="none" strike="noStrike">
                  <a:solidFill>
                    <a:srgbClr val="DFD5CF"/>
                  </a:solidFill>
                  <a:latin typeface="Arial"/>
                  <a:ea typeface="Arial"/>
                  <a:cs typeface="Arial"/>
                  <a:sym typeface="Arial"/>
                </a:rPr>
                <a:t>2</a:t>
              </a:r>
              <a:endParaRPr/>
            </a:p>
          </p:txBody>
        </p:sp>
      </p:grpSp>
      <p:sp>
        <p:nvSpPr>
          <p:cNvPr id="110" name="Google Shape;110;p3"/>
          <p:cNvSpPr/>
          <p:nvPr/>
        </p:nvSpPr>
        <p:spPr>
          <a:xfrm>
            <a:off x="12078977" y="3568346"/>
            <a:ext cx="4014029" cy="4083476"/>
          </a:xfrm>
          <a:custGeom>
            <a:rect b="b" l="l" r="r" t="t"/>
            <a:pathLst>
              <a:path extrusionOk="0" h="4083476" w="4014029">
                <a:moveTo>
                  <a:pt x="0" y="0"/>
                </a:moveTo>
                <a:lnTo>
                  <a:pt x="4014029" y="0"/>
                </a:lnTo>
                <a:lnTo>
                  <a:pt x="4014029" y="4083475"/>
                </a:lnTo>
                <a:lnTo>
                  <a:pt x="0" y="4083475"/>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114" name="Shape 114"/>
        <p:cNvGrpSpPr/>
        <p:nvPr/>
      </p:nvGrpSpPr>
      <p:grpSpPr>
        <a:xfrm>
          <a:off x="0" y="0"/>
          <a:ext cx="0" cy="0"/>
          <a:chOff x="0" y="0"/>
          <a:chExt cx="0" cy="0"/>
        </a:xfrm>
      </p:grpSpPr>
      <p:sp>
        <p:nvSpPr>
          <p:cNvPr id="115" name="Google Shape;115;p4"/>
          <p:cNvSpPr/>
          <p:nvPr/>
        </p:nvSpPr>
        <p:spPr>
          <a:xfrm>
            <a:off x="10612471" y="519974"/>
            <a:ext cx="9623964" cy="9247051"/>
          </a:xfrm>
          <a:custGeom>
            <a:rect b="b" l="l" r="r" t="t"/>
            <a:pathLst>
              <a:path extrusionOk="0" h="6013450" w="6258560">
                <a:moveTo>
                  <a:pt x="6258560" y="1503680"/>
                </a:moveTo>
                <a:lnTo>
                  <a:pt x="6258560" y="1503680"/>
                </a:lnTo>
                <a:cubicBezTo>
                  <a:pt x="6258560" y="673100"/>
                  <a:pt x="5585460" y="0"/>
                  <a:pt x="4754880" y="0"/>
                </a:cubicBezTo>
                <a:lnTo>
                  <a:pt x="0" y="0"/>
                </a:lnTo>
                <a:lnTo>
                  <a:pt x="0" y="3006090"/>
                </a:lnTo>
                <a:lnTo>
                  <a:pt x="1503680" y="3006090"/>
                </a:lnTo>
                <a:cubicBezTo>
                  <a:pt x="673100" y="3006090"/>
                  <a:pt x="0" y="3679190"/>
                  <a:pt x="0" y="4509770"/>
                </a:cubicBezTo>
                <a:lnTo>
                  <a:pt x="0" y="4509770"/>
                </a:lnTo>
                <a:cubicBezTo>
                  <a:pt x="0" y="5340350"/>
                  <a:pt x="673100" y="6013450"/>
                  <a:pt x="1503680" y="6013450"/>
                </a:cubicBezTo>
                <a:lnTo>
                  <a:pt x="6258560" y="6013450"/>
                </a:lnTo>
                <a:lnTo>
                  <a:pt x="6258560" y="3007360"/>
                </a:lnTo>
                <a:lnTo>
                  <a:pt x="4754880" y="3007360"/>
                </a:lnTo>
                <a:cubicBezTo>
                  <a:pt x="5585460" y="3007360"/>
                  <a:pt x="6258560" y="2334260"/>
                  <a:pt x="6258560" y="1503680"/>
                </a:cubicBezTo>
                <a:close/>
              </a:path>
            </a:pathLst>
          </a:custGeom>
          <a:blipFill rotWithShape="1">
            <a:blip r:embed="rId3">
              <a:alphaModFix/>
            </a:blip>
            <a:stretch>
              <a:fillRect b="0" l="-22106" r="-22106"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3398896" y="8875453"/>
            <a:ext cx="4011502" cy="2823094"/>
          </a:xfrm>
          <a:custGeom>
            <a:rect b="b" l="l" r="r" t="t"/>
            <a:pathLst>
              <a:path extrusionOk="0" h="2823094" w="4011502">
                <a:moveTo>
                  <a:pt x="0" y="0"/>
                </a:moveTo>
                <a:lnTo>
                  <a:pt x="4011502" y="0"/>
                </a:lnTo>
                <a:lnTo>
                  <a:pt x="4011502" y="2823094"/>
                </a:lnTo>
                <a:lnTo>
                  <a:pt x="0" y="2823094"/>
                </a:lnTo>
                <a:lnTo>
                  <a:pt x="0" y="0"/>
                </a:lnTo>
                <a:close/>
              </a:path>
            </a:pathLst>
          </a:custGeom>
          <a:blipFill rotWithShape="1">
            <a:blip r:embed="rId4">
              <a:alphaModFix/>
            </a:blip>
            <a:stretch>
              <a:fillRect b="0" l="0" r="0" t="0"/>
            </a:stretch>
          </a:blipFill>
          <a:ln>
            <a:noFill/>
          </a:ln>
        </p:spPr>
      </p:sp>
      <p:grpSp>
        <p:nvGrpSpPr>
          <p:cNvPr id="117" name="Google Shape;117;p4"/>
          <p:cNvGrpSpPr/>
          <p:nvPr/>
        </p:nvGrpSpPr>
        <p:grpSpPr>
          <a:xfrm>
            <a:off x="1205247" y="2375373"/>
            <a:ext cx="8210804" cy="5700966"/>
            <a:chOff x="0" y="0"/>
            <a:chExt cx="10947738" cy="7601288"/>
          </a:xfrm>
        </p:grpSpPr>
        <p:sp>
          <p:nvSpPr>
            <p:cNvPr id="118" name="Google Shape;118;p4"/>
            <p:cNvSpPr txBox="1"/>
            <p:nvPr/>
          </p:nvSpPr>
          <p:spPr>
            <a:xfrm>
              <a:off x="1655033" y="283745"/>
              <a:ext cx="9292705" cy="1479127"/>
            </a:xfrm>
            <a:prstGeom prst="rect">
              <a:avLst/>
            </a:prstGeom>
            <a:noFill/>
            <a:ln>
              <a:noFill/>
            </a:ln>
          </p:spPr>
          <p:txBody>
            <a:bodyPr anchorCtr="0" anchor="t" bIns="0" lIns="0" spcFirstLastPara="1" rIns="0" wrap="square" tIns="0">
              <a:spAutoFit/>
            </a:bodyPr>
            <a:lstStyle/>
            <a:p>
              <a:pPr indent="0" lvl="0" marL="0" marR="0" rtl="0" algn="l">
                <a:lnSpc>
                  <a:spcPct val="106001"/>
                </a:lnSpc>
                <a:spcBef>
                  <a:spcPts val="0"/>
                </a:spcBef>
                <a:spcAft>
                  <a:spcPts val="0"/>
                </a:spcAft>
                <a:buNone/>
              </a:pPr>
              <a:r>
                <a:rPr b="1" i="0" lang="en-US" sz="3999" u="none" cap="none" strike="noStrike">
                  <a:solidFill>
                    <a:srgbClr val="FFFFFF"/>
                  </a:solidFill>
                  <a:latin typeface="Arial"/>
                  <a:ea typeface="Arial"/>
                  <a:cs typeface="Arial"/>
                  <a:sym typeface="Arial"/>
                </a:rPr>
                <a:t>DESCRIPCIÓN DEL PROYECTO</a:t>
              </a:r>
              <a:endParaRPr/>
            </a:p>
          </p:txBody>
        </p:sp>
        <p:sp>
          <p:nvSpPr>
            <p:cNvPr id="119" name="Google Shape;119;p4"/>
            <p:cNvSpPr txBox="1"/>
            <p:nvPr/>
          </p:nvSpPr>
          <p:spPr>
            <a:xfrm>
              <a:off x="391253" y="1828988"/>
              <a:ext cx="10556400" cy="5772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t/>
              </a:r>
              <a:endParaRPr sz="2296">
                <a:solidFill>
                  <a:srgbClr val="FFFFFF"/>
                </a:solidFill>
              </a:endParaRPr>
            </a:p>
            <a:p>
              <a:pPr indent="0" lvl="0" marL="0" marR="0" rtl="0" algn="l">
                <a:lnSpc>
                  <a:spcPct val="125000"/>
                </a:lnSpc>
                <a:spcBef>
                  <a:spcPts val="0"/>
                </a:spcBef>
                <a:spcAft>
                  <a:spcPts val="0"/>
                </a:spcAft>
                <a:buNone/>
              </a:pPr>
              <a:r>
                <a:rPr b="0" i="0" lang="en-US" sz="2296" u="none" cap="none" strike="noStrike">
                  <a:solidFill>
                    <a:srgbClr val="FFFFFF"/>
                  </a:solidFill>
                  <a:latin typeface="Arial"/>
                  <a:ea typeface="Arial"/>
                  <a:cs typeface="Arial"/>
                  <a:sym typeface="Arial"/>
                </a:rPr>
                <a:t>OPORTUNIDAD</a:t>
              </a:r>
              <a:endParaRPr/>
            </a:p>
            <a:p>
              <a:pPr indent="0" lvl="0" marL="0" marR="0" rtl="0" algn="l">
                <a:lnSpc>
                  <a:spcPct val="125000"/>
                </a:lnSpc>
                <a:spcBef>
                  <a:spcPts val="0"/>
                </a:spcBef>
                <a:spcAft>
                  <a:spcPts val="0"/>
                </a:spcAft>
                <a:buNone/>
              </a:pPr>
              <a:r>
                <a:t/>
              </a:r>
              <a:endParaRPr b="0" i="0" sz="2296" u="none" cap="none" strike="noStrike">
                <a:solidFill>
                  <a:srgbClr val="FFFFFF"/>
                </a:solidFill>
                <a:latin typeface="Arial"/>
                <a:ea typeface="Arial"/>
                <a:cs typeface="Arial"/>
                <a:sym typeface="Arial"/>
              </a:endParaRPr>
            </a:p>
            <a:p>
              <a:pPr indent="0" lvl="0" marL="0" marR="0" rtl="0" algn="l">
                <a:lnSpc>
                  <a:spcPct val="125000"/>
                </a:lnSpc>
                <a:spcBef>
                  <a:spcPts val="0"/>
                </a:spcBef>
                <a:spcAft>
                  <a:spcPts val="0"/>
                </a:spcAft>
                <a:buNone/>
              </a:pPr>
              <a:r>
                <a:rPr b="0" i="0" lang="en-US" sz="2296" u="none" cap="none" strike="noStrike">
                  <a:solidFill>
                    <a:srgbClr val="FFFFFF"/>
                  </a:solidFill>
                  <a:latin typeface="Arial"/>
                  <a:ea typeface="Arial"/>
                  <a:cs typeface="Arial"/>
                  <a:sym typeface="Arial"/>
                </a:rPr>
                <a:t>En Chile, muchas personas no logran gestionar bien sus finanzas por la falta de herramientas claras para interpretar sus cartolas bancarias. Este proyecto, alineado con el perfil del analista programador, busca desarrollar soluciones prácticas aplicando conocimientos en desarrollo web, bases de datos y análisis de datos.</a:t>
              </a:r>
              <a:endParaRPr/>
            </a:p>
            <a:p>
              <a:pPr indent="0" lvl="0" marL="0" marR="0" rtl="0" algn="l">
                <a:lnSpc>
                  <a:spcPct val="125000"/>
                </a:lnSpc>
                <a:spcBef>
                  <a:spcPts val="0"/>
                </a:spcBef>
                <a:spcAft>
                  <a:spcPts val="0"/>
                </a:spcAft>
                <a:buNone/>
              </a:pPr>
              <a:r>
                <a:t/>
              </a:r>
              <a:endParaRPr b="0" i="0" sz="2296" u="none" cap="none" strike="noStrike">
                <a:solidFill>
                  <a:srgbClr val="FFFFFF"/>
                </a:solidFill>
                <a:latin typeface="Arial"/>
                <a:ea typeface="Arial"/>
                <a:cs typeface="Arial"/>
                <a:sym typeface="Arial"/>
              </a:endParaRPr>
            </a:p>
          </p:txBody>
        </p:sp>
        <p:sp>
          <p:nvSpPr>
            <p:cNvPr id="120" name="Google Shape;120;p4"/>
            <p:cNvSpPr/>
            <p:nvPr/>
          </p:nvSpPr>
          <p:spPr>
            <a:xfrm>
              <a:off x="0" y="0"/>
              <a:ext cx="1253289" cy="1253289"/>
            </a:xfrm>
            <a:custGeom>
              <a:rect b="b" l="l" r="r" t="t"/>
              <a:pathLst>
                <a:path extrusionOk="0" h="1253289" w="1253289">
                  <a:moveTo>
                    <a:pt x="0" y="0"/>
                  </a:moveTo>
                  <a:lnTo>
                    <a:pt x="1253289" y="0"/>
                  </a:lnTo>
                  <a:lnTo>
                    <a:pt x="1253289" y="1253289"/>
                  </a:lnTo>
                  <a:lnTo>
                    <a:pt x="0" y="1253289"/>
                  </a:lnTo>
                  <a:lnTo>
                    <a:pt x="0" y="0"/>
                  </a:lnTo>
                  <a:close/>
                </a:path>
              </a:pathLst>
            </a:custGeom>
            <a:blipFill rotWithShape="1">
              <a:blip r:embed="rId5">
                <a:alphaModFix/>
              </a:blip>
              <a:stretch>
                <a:fillRect b="0" l="0" r="0" t="0"/>
              </a:stretch>
            </a:blipFill>
            <a:ln>
              <a:noFill/>
            </a:ln>
          </p:spPr>
        </p:sp>
        <p:sp>
          <p:nvSpPr>
            <p:cNvPr id="121" name="Google Shape;121;p4"/>
            <p:cNvSpPr txBox="1"/>
            <p:nvPr/>
          </p:nvSpPr>
          <p:spPr>
            <a:xfrm>
              <a:off x="327207" y="337539"/>
              <a:ext cx="625262" cy="589925"/>
            </a:xfrm>
            <a:prstGeom prst="rect">
              <a:avLst/>
            </a:prstGeom>
            <a:noFill/>
            <a:ln>
              <a:noFill/>
            </a:ln>
          </p:spPr>
          <p:txBody>
            <a:bodyPr anchorCtr="0" anchor="t" bIns="0" lIns="0" spcFirstLastPara="1" rIns="0" wrap="square" tIns="0">
              <a:spAutoFit/>
            </a:bodyPr>
            <a:lstStyle/>
            <a:p>
              <a:pPr indent="0" lvl="0" marL="0" marR="0" rtl="0" algn="ctr">
                <a:lnSpc>
                  <a:spcPct val="183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125" name="Shape 125"/>
        <p:cNvGrpSpPr/>
        <p:nvPr/>
      </p:nvGrpSpPr>
      <p:grpSpPr>
        <a:xfrm>
          <a:off x="0" y="0"/>
          <a:ext cx="0" cy="0"/>
          <a:chOff x="0" y="0"/>
          <a:chExt cx="0" cy="0"/>
        </a:xfrm>
      </p:grpSpPr>
      <p:sp>
        <p:nvSpPr>
          <p:cNvPr id="126" name="Google Shape;126;p5"/>
          <p:cNvSpPr/>
          <p:nvPr/>
        </p:nvSpPr>
        <p:spPr>
          <a:xfrm>
            <a:off x="2487504" y="1782957"/>
            <a:ext cx="986966" cy="986966"/>
          </a:xfrm>
          <a:custGeom>
            <a:rect b="b" l="l" r="r" t="t"/>
            <a:pathLst>
              <a:path extrusionOk="0" h="986966" w="986966">
                <a:moveTo>
                  <a:pt x="0" y="0"/>
                </a:moveTo>
                <a:lnTo>
                  <a:pt x="986966" y="0"/>
                </a:lnTo>
                <a:lnTo>
                  <a:pt x="986966" y="986966"/>
                </a:lnTo>
                <a:lnTo>
                  <a:pt x="0" y="986966"/>
                </a:lnTo>
                <a:lnTo>
                  <a:pt x="0" y="0"/>
                </a:lnTo>
                <a:close/>
              </a:path>
            </a:pathLst>
          </a:custGeom>
          <a:blipFill rotWithShape="1">
            <a:blip r:embed="rId3">
              <a:alphaModFix/>
            </a:blip>
            <a:stretch>
              <a:fillRect b="0" l="0" r="0" t="0"/>
            </a:stretch>
          </a:blipFill>
          <a:ln>
            <a:noFill/>
          </a:ln>
        </p:spPr>
      </p:sp>
      <p:sp>
        <p:nvSpPr>
          <p:cNvPr id="127" name="Google Shape;127;p5"/>
          <p:cNvSpPr/>
          <p:nvPr/>
        </p:nvSpPr>
        <p:spPr>
          <a:xfrm>
            <a:off x="9908060" y="1866220"/>
            <a:ext cx="6178070" cy="6755867"/>
          </a:xfrm>
          <a:custGeom>
            <a:rect b="b" l="l" r="r" t="t"/>
            <a:pathLst>
              <a:path extrusionOk="0" h="6904990" w="6314440">
                <a:moveTo>
                  <a:pt x="6164580" y="2338070"/>
                </a:moveTo>
                <a:lnTo>
                  <a:pt x="6164580" y="2338070"/>
                </a:lnTo>
                <a:cubicBezTo>
                  <a:pt x="6191250" y="2249170"/>
                  <a:pt x="6205220" y="2160270"/>
                  <a:pt x="6205220" y="2071370"/>
                </a:cubicBezTo>
                <a:lnTo>
                  <a:pt x="6205220" y="2071370"/>
                </a:lnTo>
                <a:lnTo>
                  <a:pt x="6205220" y="20320"/>
                </a:lnTo>
                <a:lnTo>
                  <a:pt x="1089660" y="21590"/>
                </a:lnTo>
                <a:lnTo>
                  <a:pt x="1089660" y="21590"/>
                </a:lnTo>
                <a:cubicBezTo>
                  <a:pt x="671830" y="0"/>
                  <a:pt x="276860" y="261620"/>
                  <a:pt x="149860" y="679450"/>
                </a:cubicBezTo>
                <a:lnTo>
                  <a:pt x="149860" y="679450"/>
                </a:lnTo>
                <a:cubicBezTo>
                  <a:pt x="0" y="1172210"/>
                  <a:pt x="276860" y="1692910"/>
                  <a:pt x="768350" y="1842770"/>
                </a:cubicBezTo>
                <a:lnTo>
                  <a:pt x="1211580" y="1978660"/>
                </a:lnTo>
                <a:cubicBezTo>
                  <a:pt x="750570" y="1892300"/>
                  <a:pt x="289560" y="2164080"/>
                  <a:pt x="149860" y="2622550"/>
                </a:cubicBezTo>
                <a:lnTo>
                  <a:pt x="149860" y="2622550"/>
                </a:lnTo>
                <a:cubicBezTo>
                  <a:pt x="0" y="3115310"/>
                  <a:pt x="276860" y="3636010"/>
                  <a:pt x="768350" y="3785870"/>
                </a:cubicBezTo>
                <a:lnTo>
                  <a:pt x="1211580" y="3921760"/>
                </a:lnTo>
                <a:cubicBezTo>
                  <a:pt x="750570" y="3835400"/>
                  <a:pt x="289560" y="4107180"/>
                  <a:pt x="149860" y="4565650"/>
                </a:cubicBezTo>
                <a:lnTo>
                  <a:pt x="149860" y="4565650"/>
                </a:lnTo>
                <a:cubicBezTo>
                  <a:pt x="123190" y="4654550"/>
                  <a:pt x="109220" y="4743450"/>
                  <a:pt x="109220" y="4832350"/>
                </a:cubicBezTo>
                <a:lnTo>
                  <a:pt x="109220" y="4832350"/>
                </a:lnTo>
                <a:lnTo>
                  <a:pt x="109220" y="4832350"/>
                </a:lnTo>
                <a:cubicBezTo>
                  <a:pt x="109220" y="4838700"/>
                  <a:pt x="109220" y="4845050"/>
                  <a:pt x="109220" y="4851400"/>
                </a:cubicBezTo>
                <a:lnTo>
                  <a:pt x="109220" y="6884670"/>
                </a:lnTo>
                <a:lnTo>
                  <a:pt x="5224780" y="6883400"/>
                </a:lnTo>
                <a:lnTo>
                  <a:pt x="5224780" y="6883400"/>
                </a:lnTo>
                <a:cubicBezTo>
                  <a:pt x="5642610" y="6904990"/>
                  <a:pt x="6036310" y="6643370"/>
                  <a:pt x="6164580" y="6225540"/>
                </a:cubicBezTo>
                <a:lnTo>
                  <a:pt x="6164580" y="6225540"/>
                </a:lnTo>
                <a:cubicBezTo>
                  <a:pt x="6314440" y="5732781"/>
                  <a:pt x="6037580" y="5212081"/>
                  <a:pt x="5546090" y="5062220"/>
                </a:cubicBezTo>
                <a:lnTo>
                  <a:pt x="5102860" y="4926330"/>
                </a:lnTo>
                <a:cubicBezTo>
                  <a:pt x="5563870" y="5012690"/>
                  <a:pt x="6024880" y="4740910"/>
                  <a:pt x="6164580" y="4282440"/>
                </a:cubicBezTo>
                <a:lnTo>
                  <a:pt x="6164580" y="4282440"/>
                </a:lnTo>
                <a:cubicBezTo>
                  <a:pt x="6314440" y="3789680"/>
                  <a:pt x="6037580" y="3268980"/>
                  <a:pt x="5546090" y="3119120"/>
                </a:cubicBezTo>
                <a:lnTo>
                  <a:pt x="5102860" y="2983230"/>
                </a:lnTo>
                <a:cubicBezTo>
                  <a:pt x="5562600" y="3068320"/>
                  <a:pt x="6024880" y="2797810"/>
                  <a:pt x="6164580" y="2338070"/>
                </a:cubicBezTo>
                <a:close/>
              </a:path>
            </a:pathLst>
          </a:custGeom>
          <a:blipFill rotWithShape="1">
            <a:blip r:embed="rId4">
              <a:alphaModFix/>
            </a:blip>
            <a:stretch>
              <a:fillRect b="0" l="-62597" r="-6259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14139950" y="7923960"/>
            <a:ext cx="7315200" cy="3657600"/>
          </a:xfrm>
          <a:custGeom>
            <a:rect b="b" l="l" r="r" t="t"/>
            <a:pathLst>
              <a:path extrusionOk="0" h="3657600" w="7315200">
                <a:moveTo>
                  <a:pt x="0" y="0"/>
                </a:moveTo>
                <a:lnTo>
                  <a:pt x="7315200" y="0"/>
                </a:lnTo>
                <a:lnTo>
                  <a:pt x="7315200" y="3657600"/>
                </a:lnTo>
                <a:lnTo>
                  <a:pt x="0" y="3657600"/>
                </a:lnTo>
                <a:lnTo>
                  <a:pt x="0" y="0"/>
                </a:lnTo>
                <a:close/>
              </a:path>
            </a:pathLst>
          </a:custGeom>
          <a:blipFill rotWithShape="1">
            <a:blip r:embed="rId5">
              <a:alphaModFix/>
            </a:blip>
            <a:stretch>
              <a:fillRect b="0" l="0" r="0" t="0"/>
            </a:stretch>
          </a:blipFill>
          <a:ln>
            <a:noFill/>
          </a:ln>
        </p:spPr>
      </p:sp>
      <p:sp>
        <p:nvSpPr>
          <p:cNvPr id="129" name="Google Shape;129;p5"/>
          <p:cNvSpPr/>
          <p:nvPr/>
        </p:nvSpPr>
        <p:spPr>
          <a:xfrm>
            <a:off x="15394599" y="2288731"/>
            <a:ext cx="811794" cy="787440"/>
          </a:xfrm>
          <a:custGeom>
            <a:rect b="b" l="l" r="r" t="t"/>
            <a:pathLst>
              <a:path extrusionOk="0" h="787440" w="811794">
                <a:moveTo>
                  <a:pt x="0" y="0"/>
                </a:moveTo>
                <a:lnTo>
                  <a:pt x="811794" y="0"/>
                </a:lnTo>
                <a:lnTo>
                  <a:pt x="811794" y="787441"/>
                </a:lnTo>
                <a:lnTo>
                  <a:pt x="0" y="787441"/>
                </a:lnTo>
                <a:lnTo>
                  <a:pt x="0" y="0"/>
                </a:lnTo>
                <a:close/>
              </a:path>
            </a:pathLst>
          </a:custGeom>
          <a:blipFill rotWithShape="1">
            <a:blip r:embed="rId6">
              <a:alphaModFix/>
            </a:blip>
            <a:stretch>
              <a:fillRect b="0" l="0" r="0" t="0"/>
            </a:stretch>
          </a:blipFill>
          <a:ln>
            <a:noFill/>
          </a:ln>
        </p:spPr>
      </p:sp>
      <p:sp>
        <p:nvSpPr>
          <p:cNvPr id="130" name="Google Shape;130;p5"/>
          <p:cNvSpPr txBox="1"/>
          <p:nvPr/>
        </p:nvSpPr>
        <p:spPr>
          <a:xfrm>
            <a:off x="2716104" y="2998523"/>
            <a:ext cx="6427896" cy="921411"/>
          </a:xfrm>
          <a:prstGeom prst="rect">
            <a:avLst/>
          </a:prstGeom>
          <a:noFill/>
          <a:ln>
            <a:noFill/>
          </a:ln>
        </p:spPr>
        <p:txBody>
          <a:bodyPr anchorCtr="0" anchor="t" bIns="0" lIns="0" spcFirstLastPara="1" rIns="0" wrap="square" tIns="0">
            <a:spAutoFit/>
          </a:bodyPr>
          <a:lstStyle/>
          <a:p>
            <a:pPr indent="0" lvl="0" marL="0" marR="0" rtl="0" algn="l">
              <a:lnSpc>
                <a:spcPct val="105994"/>
              </a:lnSpc>
              <a:spcBef>
                <a:spcPts val="0"/>
              </a:spcBef>
              <a:spcAft>
                <a:spcPts val="0"/>
              </a:spcAft>
              <a:buNone/>
            </a:pPr>
            <a:r>
              <a:rPr b="1" i="0" lang="en-US" sz="6556" u="none" cap="none" strike="noStrike">
                <a:solidFill>
                  <a:srgbClr val="FFFFFF"/>
                </a:solidFill>
                <a:latin typeface="Arial"/>
                <a:ea typeface="Arial"/>
                <a:cs typeface="Arial"/>
                <a:sym typeface="Arial"/>
              </a:rPr>
              <a:t>PROPUESTA</a:t>
            </a:r>
            <a:endParaRPr/>
          </a:p>
        </p:txBody>
      </p:sp>
      <p:sp>
        <p:nvSpPr>
          <p:cNvPr id="131" name="Google Shape;131;p5"/>
          <p:cNvSpPr txBox="1"/>
          <p:nvPr/>
        </p:nvSpPr>
        <p:spPr>
          <a:xfrm>
            <a:off x="2716104" y="4791452"/>
            <a:ext cx="6427800" cy="792600"/>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lang="en-US" sz="2500" u="none" cap="none" strike="noStrike">
                <a:solidFill>
                  <a:srgbClr val="FFFFFF"/>
                </a:solidFill>
              </a:rPr>
              <a:t>Solución</a:t>
            </a:r>
            <a:endParaRPr b="1"/>
          </a:p>
          <a:p>
            <a:pPr indent="0" lvl="0" marL="0" marR="0" rtl="0" algn="l">
              <a:lnSpc>
                <a:spcPct val="105999"/>
              </a:lnSpc>
              <a:spcBef>
                <a:spcPts val="0"/>
              </a:spcBef>
              <a:spcAft>
                <a:spcPts val="0"/>
              </a:spcAft>
              <a:buNone/>
            </a:pPr>
            <a:r>
              <a:t/>
            </a:r>
            <a:endParaRPr b="0" i="1" sz="2500" u="none" cap="none" strike="noStrike">
              <a:solidFill>
                <a:srgbClr val="FFFFFF"/>
              </a:solidFill>
              <a:latin typeface="Sansita"/>
              <a:ea typeface="Sansita"/>
              <a:cs typeface="Sansita"/>
              <a:sym typeface="Sansita"/>
            </a:endParaRPr>
          </a:p>
        </p:txBody>
      </p:sp>
      <p:sp>
        <p:nvSpPr>
          <p:cNvPr id="132" name="Google Shape;132;p5"/>
          <p:cNvSpPr txBox="1"/>
          <p:nvPr/>
        </p:nvSpPr>
        <p:spPr>
          <a:xfrm>
            <a:off x="2716104" y="5836027"/>
            <a:ext cx="6427896" cy="1782191"/>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0" i="0" lang="en-US" sz="2200" u="none" cap="none" strike="noStrike">
                <a:solidFill>
                  <a:srgbClr val="FFFFFF"/>
                </a:solidFill>
                <a:latin typeface="Arial"/>
                <a:ea typeface="Arial"/>
                <a:cs typeface="Arial"/>
                <a:sym typeface="Arial"/>
              </a:rPr>
              <a:t>El objetivo es crear una aplicación web para gestionar finanzas personales  a partir de cartolas bancarias, usando Python y SQLite. Se busca aplicar metodología en cascada, usar GitHub, documentar el proyecto, desarrollar un backend, diseñar una interfaz intuitiva y realizar pruebas.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136" name="Shape 136"/>
        <p:cNvGrpSpPr/>
        <p:nvPr/>
      </p:nvGrpSpPr>
      <p:grpSpPr>
        <a:xfrm>
          <a:off x="0" y="0"/>
          <a:ext cx="0" cy="0"/>
          <a:chOff x="0" y="0"/>
          <a:chExt cx="0" cy="0"/>
        </a:xfrm>
      </p:grpSpPr>
      <p:sp>
        <p:nvSpPr>
          <p:cNvPr id="137" name="Google Shape;137;p6"/>
          <p:cNvSpPr/>
          <p:nvPr/>
        </p:nvSpPr>
        <p:spPr>
          <a:xfrm>
            <a:off x="8657233" y="1772090"/>
            <a:ext cx="973533" cy="973533"/>
          </a:xfrm>
          <a:custGeom>
            <a:rect b="b" l="l" r="r" t="t"/>
            <a:pathLst>
              <a:path extrusionOk="0" h="973533" w="973533">
                <a:moveTo>
                  <a:pt x="0" y="0"/>
                </a:moveTo>
                <a:lnTo>
                  <a:pt x="973534" y="0"/>
                </a:lnTo>
                <a:lnTo>
                  <a:pt x="973534" y="973533"/>
                </a:lnTo>
                <a:lnTo>
                  <a:pt x="0" y="973533"/>
                </a:lnTo>
                <a:lnTo>
                  <a:pt x="0" y="0"/>
                </a:lnTo>
                <a:close/>
              </a:path>
            </a:pathLst>
          </a:custGeom>
          <a:blipFill rotWithShape="1">
            <a:blip r:embed="rId3">
              <a:alphaModFix/>
            </a:blip>
            <a:stretch>
              <a:fillRect b="0" l="0" r="0" t="0"/>
            </a:stretch>
          </a:blipFill>
          <a:ln>
            <a:noFill/>
          </a:ln>
        </p:spPr>
      </p:sp>
      <p:sp>
        <p:nvSpPr>
          <p:cNvPr id="138" name="Google Shape;138;p6"/>
          <p:cNvSpPr/>
          <p:nvPr/>
        </p:nvSpPr>
        <p:spPr>
          <a:xfrm>
            <a:off x="8914691" y="5240553"/>
            <a:ext cx="458618" cy="458618"/>
          </a:xfrm>
          <a:custGeom>
            <a:rect b="b" l="l" r="r" t="t"/>
            <a:pathLst>
              <a:path extrusionOk="0" h="458618" w="458618">
                <a:moveTo>
                  <a:pt x="0" y="0"/>
                </a:moveTo>
                <a:lnTo>
                  <a:pt x="458618" y="0"/>
                </a:lnTo>
                <a:lnTo>
                  <a:pt x="458618" y="458618"/>
                </a:lnTo>
                <a:lnTo>
                  <a:pt x="0" y="458618"/>
                </a:lnTo>
                <a:lnTo>
                  <a:pt x="0" y="0"/>
                </a:lnTo>
                <a:close/>
              </a:path>
            </a:pathLst>
          </a:custGeom>
          <a:blipFill rotWithShape="1">
            <a:blip r:embed="rId4">
              <a:alphaModFix/>
            </a:blip>
            <a:stretch>
              <a:fillRect b="0" l="0" r="0" t="0"/>
            </a:stretch>
          </a:blipFill>
          <a:ln>
            <a:noFill/>
          </a:ln>
        </p:spPr>
      </p:sp>
      <p:sp>
        <p:nvSpPr>
          <p:cNvPr id="139" name="Google Shape;139;p6"/>
          <p:cNvSpPr txBox="1"/>
          <p:nvPr/>
        </p:nvSpPr>
        <p:spPr>
          <a:xfrm>
            <a:off x="5702891" y="5881949"/>
            <a:ext cx="6882218" cy="1191641"/>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0" i="0" lang="en-US" sz="2200" u="none" cap="none" strike="noStrike">
                <a:solidFill>
                  <a:srgbClr val="FFFFFF"/>
                </a:solidFill>
                <a:latin typeface="Arial"/>
                <a:ea typeface="Arial"/>
                <a:cs typeface="Arial"/>
                <a:sym typeface="Arial"/>
              </a:rPr>
              <a:t>El proyecto busca crear una app web para gestionar finanzas desde cartolas bancarias, usando Python y SQLite, con buen diseño, backend funcional y pruebas del sistema.</a:t>
            </a:r>
            <a:endParaRPr/>
          </a:p>
        </p:txBody>
      </p:sp>
      <p:sp>
        <p:nvSpPr>
          <p:cNvPr id="140" name="Google Shape;140;p6"/>
          <p:cNvSpPr/>
          <p:nvPr/>
        </p:nvSpPr>
        <p:spPr>
          <a:xfrm>
            <a:off x="15610822" y="8696951"/>
            <a:ext cx="561349" cy="561349"/>
          </a:xfrm>
          <a:custGeom>
            <a:rect b="b" l="l" r="r" t="t"/>
            <a:pathLst>
              <a:path extrusionOk="0" h="561349" w="561349">
                <a:moveTo>
                  <a:pt x="0" y="0"/>
                </a:moveTo>
                <a:lnTo>
                  <a:pt x="561349" y="0"/>
                </a:lnTo>
                <a:lnTo>
                  <a:pt x="561349" y="561349"/>
                </a:lnTo>
                <a:lnTo>
                  <a:pt x="0" y="561349"/>
                </a:lnTo>
                <a:lnTo>
                  <a:pt x="0" y="0"/>
                </a:lnTo>
                <a:close/>
              </a:path>
            </a:pathLst>
          </a:custGeom>
          <a:blipFill rotWithShape="1">
            <a:blip r:embed="rId5">
              <a:alphaModFix/>
            </a:blip>
            <a:stretch>
              <a:fillRect b="0" l="0" r="0" t="0"/>
            </a:stretch>
          </a:blipFill>
          <a:ln>
            <a:noFill/>
          </a:ln>
        </p:spPr>
      </p:sp>
      <p:sp>
        <p:nvSpPr>
          <p:cNvPr id="141" name="Google Shape;141;p6"/>
          <p:cNvSpPr/>
          <p:nvPr/>
        </p:nvSpPr>
        <p:spPr>
          <a:xfrm>
            <a:off x="16422112" y="8421112"/>
            <a:ext cx="837188" cy="837188"/>
          </a:xfrm>
          <a:custGeom>
            <a:rect b="b" l="l" r="r" t="t"/>
            <a:pathLst>
              <a:path extrusionOk="0" h="837188" w="837188">
                <a:moveTo>
                  <a:pt x="0" y="0"/>
                </a:moveTo>
                <a:lnTo>
                  <a:pt x="837188" y="0"/>
                </a:lnTo>
                <a:lnTo>
                  <a:pt x="837188" y="837188"/>
                </a:lnTo>
                <a:lnTo>
                  <a:pt x="0" y="837188"/>
                </a:lnTo>
                <a:lnTo>
                  <a:pt x="0" y="0"/>
                </a:lnTo>
                <a:close/>
              </a:path>
            </a:pathLst>
          </a:custGeom>
          <a:blipFill rotWithShape="1">
            <a:blip r:embed="rId5">
              <a:alphaModFix/>
            </a:blip>
            <a:stretch>
              <a:fillRect b="0" l="0" r="0" t="0"/>
            </a:stretch>
          </a:blipFill>
          <a:ln>
            <a:noFill/>
          </a:ln>
        </p:spPr>
      </p:sp>
      <p:sp>
        <p:nvSpPr>
          <p:cNvPr id="142" name="Google Shape;142;p6"/>
          <p:cNvSpPr txBox="1"/>
          <p:nvPr/>
        </p:nvSpPr>
        <p:spPr>
          <a:xfrm>
            <a:off x="5491955" y="3032621"/>
            <a:ext cx="7304089" cy="1415554"/>
          </a:xfrm>
          <a:prstGeom prst="rect">
            <a:avLst/>
          </a:prstGeom>
          <a:noFill/>
          <a:ln>
            <a:noFill/>
          </a:ln>
        </p:spPr>
        <p:txBody>
          <a:bodyPr anchorCtr="0" anchor="t" bIns="0" lIns="0" spcFirstLastPara="1" rIns="0" wrap="square" tIns="0">
            <a:spAutoFit/>
          </a:bodyPr>
          <a:lstStyle/>
          <a:p>
            <a:pPr indent="0" lvl="0" marL="0" marR="0" rtl="0" algn="ctr">
              <a:lnSpc>
                <a:spcPct val="105999"/>
              </a:lnSpc>
              <a:spcBef>
                <a:spcPts val="0"/>
              </a:spcBef>
              <a:spcAft>
                <a:spcPts val="0"/>
              </a:spcAft>
              <a:buNone/>
            </a:pPr>
            <a:r>
              <a:rPr b="1" i="0" lang="en-US" sz="5150" u="none" cap="none" strike="noStrike">
                <a:solidFill>
                  <a:srgbClr val="FFFFFF"/>
                </a:solidFill>
                <a:latin typeface="Arial"/>
                <a:ea typeface="Arial"/>
                <a:cs typeface="Arial"/>
                <a:sym typeface="Arial"/>
              </a:rPr>
              <a:t>OBJETIVO GENERAL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146" name="Shape 146"/>
        <p:cNvGrpSpPr/>
        <p:nvPr/>
      </p:nvGrpSpPr>
      <p:grpSpPr>
        <a:xfrm>
          <a:off x="0" y="0"/>
          <a:ext cx="0" cy="0"/>
          <a:chOff x="0" y="0"/>
          <a:chExt cx="0" cy="0"/>
        </a:xfrm>
      </p:grpSpPr>
      <p:sp>
        <p:nvSpPr>
          <p:cNvPr id="147" name="Google Shape;147;p7"/>
          <p:cNvSpPr/>
          <p:nvPr/>
        </p:nvSpPr>
        <p:spPr>
          <a:xfrm>
            <a:off x="8723593" y="3431106"/>
            <a:ext cx="490769" cy="490769"/>
          </a:xfrm>
          <a:custGeom>
            <a:rect b="b" l="l" r="r" t="t"/>
            <a:pathLst>
              <a:path extrusionOk="0" h="490769" w="490769">
                <a:moveTo>
                  <a:pt x="0" y="0"/>
                </a:moveTo>
                <a:lnTo>
                  <a:pt x="490768" y="0"/>
                </a:lnTo>
                <a:lnTo>
                  <a:pt x="490768" y="490768"/>
                </a:lnTo>
                <a:lnTo>
                  <a:pt x="0" y="490768"/>
                </a:lnTo>
                <a:lnTo>
                  <a:pt x="0" y="0"/>
                </a:lnTo>
                <a:close/>
              </a:path>
            </a:pathLst>
          </a:custGeom>
          <a:blipFill rotWithShape="1">
            <a:blip r:embed="rId3">
              <a:alphaModFix/>
            </a:blip>
            <a:stretch>
              <a:fillRect b="0" l="0" r="0" t="0"/>
            </a:stretch>
          </a:blipFill>
          <a:ln>
            <a:noFill/>
          </a:ln>
        </p:spPr>
      </p:sp>
      <p:sp>
        <p:nvSpPr>
          <p:cNvPr id="148" name="Google Shape;148;p7"/>
          <p:cNvSpPr txBox="1"/>
          <p:nvPr/>
        </p:nvSpPr>
        <p:spPr>
          <a:xfrm>
            <a:off x="5529719" y="1911642"/>
            <a:ext cx="7228265" cy="1519464"/>
          </a:xfrm>
          <a:prstGeom prst="rect">
            <a:avLst/>
          </a:prstGeom>
          <a:noFill/>
          <a:ln>
            <a:noFill/>
          </a:ln>
        </p:spPr>
        <p:txBody>
          <a:bodyPr anchorCtr="0" anchor="t" bIns="0" lIns="0" spcFirstLastPara="1" rIns="0" wrap="square" tIns="0">
            <a:spAutoFit/>
          </a:bodyPr>
          <a:lstStyle/>
          <a:p>
            <a:pPr indent="0" lvl="0" marL="0" marR="0" rtl="0" algn="ctr">
              <a:lnSpc>
                <a:spcPct val="106006"/>
              </a:lnSpc>
              <a:spcBef>
                <a:spcPts val="0"/>
              </a:spcBef>
              <a:spcAft>
                <a:spcPts val="0"/>
              </a:spcAft>
              <a:buNone/>
            </a:pPr>
            <a:r>
              <a:rPr b="1" i="0" lang="en-US" sz="5511" u="none" cap="none" strike="noStrike">
                <a:solidFill>
                  <a:srgbClr val="FFFFFF"/>
                </a:solidFill>
                <a:latin typeface="Arial"/>
                <a:ea typeface="Arial"/>
                <a:cs typeface="Arial"/>
                <a:sym typeface="Arial"/>
              </a:rPr>
              <a:t>OBJETIVOS ESPECÍFICOS</a:t>
            </a:r>
            <a:endParaRPr/>
          </a:p>
        </p:txBody>
      </p:sp>
      <p:sp>
        <p:nvSpPr>
          <p:cNvPr id="149" name="Google Shape;149;p7"/>
          <p:cNvSpPr txBox="1"/>
          <p:nvPr/>
        </p:nvSpPr>
        <p:spPr>
          <a:xfrm>
            <a:off x="4505625" y="4512076"/>
            <a:ext cx="9417600" cy="5156100"/>
          </a:xfrm>
          <a:prstGeom prst="rect">
            <a:avLst/>
          </a:prstGeom>
          <a:noFill/>
          <a:ln>
            <a:noFill/>
          </a:ln>
        </p:spPr>
        <p:txBody>
          <a:bodyPr anchorCtr="0" anchor="t" bIns="0" lIns="0" spcFirstLastPara="1" rIns="0" wrap="square" tIns="0">
            <a:spAutoFit/>
          </a:bodyPr>
          <a:lstStyle/>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Implementar la metodología tradicional en cascada</a:t>
            </a:r>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Emplear GitHub para el almacenamiento y versionamiento del código, garantizando un historial de cambios ordenados y respaldos periódicos.</a:t>
            </a:r>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Definir y documentar cada etapa del proyecto, incluyendo requerimientos, análisis, diseño, desarrollo, pruebas e implementación.</a:t>
            </a:r>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Realizar pruebas funcionales y de rendimiento para validar el correcto funcionamiento del sistema.</a:t>
            </a:r>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Realizar revisiones periódicas del avance del proyecto, asegurando el cumplimiento de los plazos establecidos y la calidad del desarrollo.</a:t>
            </a:r>
            <a:endParaRPr/>
          </a:p>
          <a:p>
            <a:pPr indent="0" lvl="0" marL="0" marR="0" rtl="0" algn="ctr">
              <a:lnSpc>
                <a:spcPct val="105978"/>
              </a:lnSpc>
              <a:spcBef>
                <a:spcPts val="0"/>
              </a:spcBef>
              <a:spcAft>
                <a:spcPts val="0"/>
              </a:spcAft>
              <a:buNone/>
            </a:pPr>
            <a:r>
              <a:t/>
            </a:r>
            <a:endParaRPr b="0" i="0" sz="2442" u="none" cap="none" strike="noStrike">
              <a:solidFill>
                <a:srgbClr val="FFFFFF"/>
              </a:solidFill>
              <a:latin typeface="Arial"/>
              <a:ea typeface="Arial"/>
              <a:cs typeface="Arial"/>
              <a:sym typeface="Arial"/>
            </a:endParaRPr>
          </a:p>
        </p:txBody>
      </p:sp>
      <p:sp>
        <p:nvSpPr>
          <p:cNvPr id="150" name="Google Shape;150;p7"/>
          <p:cNvSpPr/>
          <p:nvPr/>
        </p:nvSpPr>
        <p:spPr>
          <a:xfrm>
            <a:off x="16074831" y="8073831"/>
            <a:ext cx="1184469" cy="1184469"/>
          </a:xfrm>
          <a:custGeom>
            <a:rect b="b" l="l" r="r" t="t"/>
            <a:pathLst>
              <a:path extrusionOk="0" h="1184469" w="1184469">
                <a:moveTo>
                  <a:pt x="0" y="0"/>
                </a:moveTo>
                <a:lnTo>
                  <a:pt x="1184469" y="0"/>
                </a:lnTo>
                <a:lnTo>
                  <a:pt x="1184469" y="1184469"/>
                </a:lnTo>
                <a:lnTo>
                  <a:pt x="0" y="1184469"/>
                </a:lnTo>
                <a:lnTo>
                  <a:pt x="0" y="0"/>
                </a:lnTo>
                <a:close/>
              </a:path>
            </a:pathLst>
          </a:custGeom>
          <a:blipFill rotWithShape="1">
            <a:blip r:embed="rId4">
              <a:alphaModFix/>
            </a:blip>
            <a:stretch>
              <a:fillRect b="0" l="0" r="0" t="0"/>
            </a:stretch>
          </a:blipFill>
          <a:ln>
            <a:noFill/>
          </a:ln>
        </p:spPr>
      </p:sp>
      <p:sp>
        <p:nvSpPr>
          <p:cNvPr id="151" name="Google Shape;151;p7"/>
          <p:cNvSpPr/>
          <p:nvPr/>
        </p:nvSpPr>
        <p:spPr>
          <a:xfrm>
            <a:off x="14149580" y="8375877"/>
            <a:ext cx="1585152" cy="661801"/>
          </a:xfrm>
          <a:custGeom>
            <a:rect b="b" l="l" r="r" t="t"/>
            <a:pathLst>
              <a:path extrusionOk="0" h="661801" w="1585152">
                <a:moveTo>
                  <a:pt x="0" y="0"/>
                </a:moveTo>
                <a:lnTo>
                  <a:pt x="1585152" y="0"/>
                </a:lnTo>
                <a:lnTo>
                  <a:pt x="1585152" y="661801"/>
                </a:lnTo>
                <a:lnTo>
                  <a:pt x="0" y="661801"/>
                </a:lnTo>
                <a:lnTo>
                  <a:pt x="0" y="0"/>
                </a:lnTo>
                <a:close/>
              </a:path>
            </a:pathLst>
          </a:custGeom>
          <a:blipFill rotWithShape="1">
            <a:blip r:embed="rId5">
              <a:alphaModFix/>
            </a:blip>
            <a:stretch>
              <a:fillRect b="0" l="0" r="0" t="0"/>
            </a:stretch>
          </a:blipFill>
          <a:ln>
            <a:noFill/>
          </a:ln>
        </p:spPr>
      </p:sp>
      <p:sp>
        <p:nvSpPr>
          <p:cNvPr id="152" name="Google Shape;152;p7"/>
          <p:cNvSpPr/>
          <p:nvPr/>
        </p:nvSpPr>
        <p:spPr>
          <a:xfrm>
            <a:off x="-2686404" y="2701023"/>
            <a:ext cx="5372809" cy="5372809"/>
          </a:xfrm>
          <a:custGeom>
            <a:rect b="b" l="l" r="r" t="t"/>
            <a:pathLst>
              <a:path extrusionOk="0" h="5372809" w="5372809">
                <a:moveTo>
                  <a:pt x="0" y="0"/>
                </a:moveTo>
                <a:lnTo>
                  <a:pt x="5372808" y="0"/>
                </a:lnTo>
                <a:lnTo>
                  <a:pt x="5372808" y="5372808"/>
                </a:lnTo>
                <a:lnTo>
                  <a:pt x="0" y="537280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156" name="Shape 156"/>
        <p:cNvGrpSpPr/>
        <p:nvPr/>
      </p:nvGrpSpPr>
      <p:grpSpPr>
        <a:xfrm>
          <a:off x="0" y="0"/>
          <a:ext cx="0" cy="0"/>
          <a:chOff x="0" y="0"/>
          <a:chExt cx="0" cy="0"/>
        </a:xfrm>
      </p:grpSpPr>
      <p:sp>
        <p:nvSpPr>
          <p:cNvPr id="157" name="Google Shape;157;p8"/>
          <p:cNvSpPr/>
          <p:nvPr/>
        </p:nvSpPr>
        <p:spPr>
          <a:xfrm>
            <a:off x="4060432" y="4222872"/>
            <a:ext cx="458618" cy="458618"/>
          </a:xfrm>
          <a:custGeom>
            <a:rect b="b" l="l" r="r" t="t"/>
            <a:pathLst>
              <a:path extrusionOk="0" h="458618" w="458618">
                <a:moveTo>
                  <a:pt x="0" y="0"/>
                </a:moveTo>
                <a:lnTo>
                  <a:pt x="458617" y="0"/>
                </a:lnTo>
                <a:lnTo>
                  <a:pt x="458617" y="458618"/>
                </a:lnTo>
                <a:lnTo>
                  <a:pt x="0" y="458618"/>
                </a:lnTo>
                <a:lnTo>
                  <a:pt x="0" y="0"/>
                </a:lnTo>
                <a:close/>
              </a:path>
            </a:pathLst>
          </a:custGeom>
          <a:blipFill rotWithShape="1">
            <a:blip r:embed="rId3">
              <a:alphaModFix/>
            </a:blip>
            <a:stretch>
              <a:fillRect b="0" l="0" r="0" t="0"/>
            </a:stretch>
          </a:blipFill>
          <a:ln>
            <a:noFill/>
          </a:ln>
        </p:spPr>
      </p:sp>
      <p:sp>
        <p:nvSpPr>
          <p:cNvPr id="158" name="Google Shape;158;p8"/>
          <p:cNvSpPr/>
          <p:nvPr/>
        </p:nvSpPr>
        <p:spPr>
          <a:xfrm>
            <a:off x="1742635" y="1773667"/>
            <a:ext cx="1622565" cy="1622565"/>
          </a:xfrm>
          <a:custGeom>
            <a:rect b="b" l="l" r="r" t="t"/>
            <a:pathLst>
              <a:path extrusionOk="0" h="1622565" w="1622565">
                <a:moveTo>
                  <a:pt x="0" y="0"/>
                </a:moveTo>
                <a:lnTo>
                  <a:pt x="1622565" y="0"/>
                </a:lnTo>
                <a:lnTo>
                  <a:pt x="1622565" y="1622565"/>
                </a:lnTo>
                <a:lnTo>
                  <a:pt x="0" y="1622565"/>
                </a:lnTo>
                <a:lnTo>
                  <a:pt x="0" y="0"/>
                </a:lnTo>
                <a:close/>
              </a:path>
            </a:pathLst>
          </a:custGeom>
          <a:blipFill rotWithShape="1">
            <a:blip r:embed="rId4">
              <a:alphaModFix/>
            </a:blip>
            <a:stretch>
              <a:fillRect b="0" l="0" r="0" t="0"/>
            </a:stretch>
          </a:blipFill>
          <a:ln>
            <a:noFill/>
          </a:ln>
        </p:spPr>
      </p:sp>
      <p:sp>
        <p:nvSpPr>
          <p:cNvPr id="159" name="Google Shape;159;p8"/>
          <p:cNvSpPr/>
          <p:nvPr/>
        </p:nvSpPr>
        <p:spPr>
          <a:xfrm>
            <a:off x="13299653" y="911296"/>
            <a:ext cx="6848150" cy="8464408"/>
          </a:xfrm>
          <a:custGeom>
            <a:rect b="b" l="l" r="r" t="t"/>
            <a:pathLst>
              <a:path extrusionOk="0" h="7828280" w="6333490">
                <a:moveTo>
                  <a:pt x="6167120" y="4831080"/>
                </a:moveTo>
                <a:lnTo>
                  <a:pt x="6167120" y="4831080"/>
                </a:lnTo>
                <a:cubicBezTo>
                  <a:pt x="6333490" y="4287520"/>
                  <a:pt x="6027420" y="3710940"/>
                  <a:pt x="5482590" y="3544570"/>
                </a:cubicBezTo>
                <a:lnTo>
                  <a:pt x="4992370" y="3394710"/>
                </a:lnTo>
                <a:cubicBezTo>
                  <a:pt x="5501640" y="3489960"/>
                  <a:pt x="6012180" y="3190240"/>
                  <a:pt x="6167120" y="2683510"/>
                </a:cubicBezTo>
                <a:lnTo>
                  <a:pt x="6167120" y="2683510"/>
                </a:lnTo>
                <a:cubicBezTo>
                  <a:pt x="6333490" y="2139950"/>
                  <a:pt x="6027420" y="1563370"/>
                  <a:pt x="5482590" y="1397000"/>
                </a:cubicBezTo>
                <a:lnTo>
                  <a:pt x="1452880" y="166370"/>
                </a:lnTo>
                <a:cubicBezTo>
                  <a:pt x="909320" y="0"/>
                  <a:pt x="334010" y="306070"/>
                  <a:pt x="167640" y="849630"/>
                </a:cubicBezTo>
                <a:lnTo>
                  <a:pt x="167640" y="849630"/>
                </a:lnTo>
                <a:cubicBezTo>
                  <a:pt x="1270" y="1393190"/>
                  <a:pt x="307340" y="1969770"/>
                  <a:pt x="852170" y="2136140"/>
                </a:cubicBezTo>
                <a:lnTo>
                  <a:pt x="1341120" y="2286000"/>
                </a:lnTo>
                <a:cubicBezTo>
                  <a:pt x="831850" y="2190750"/>
                  <a:pt x="321310" y="2490470"/>
                  <a:pt x="166370" y="2997200"/>
                </a:cubicBezTo>
                <a:lnTo>
                  <a:pt x="166370" y="2997200"/>
                </a:lnTo>
                <a:cubicBezTo>
                  <a:pt x="0" y="3540760"/>
                  <a:pt x="306070" y="4117340"/>
                  <a:pt x="850900" y="4283710"/>
                </a:cubicBezTo>
                <a:lnTo>
                  <a:pt x="1341120" y="4433570"/>
                </a:lnTo>
                <a:cubicBezTo>
                  <a:pt x="831850" y="4338320"/>
                  <a:pt x="321310" y="4638040"/>
                  <a:pt x="166370" y="5144770"/>
                </a:cubicBezTo>
                <a:lnTo>
                  <a:pt x="166370" y="5144770"/>
                </a:lnTo>
                <a:cubicBezTo>
                  <a:pt x="0" y="5688330"/>
                  <a:pt x="306070" y="6264910"/>
                  <a:pt x="850900" y="6431280"/>
                </a:cubicBezTo>
                <a:lnTo>
                  <a:pt x="4880610" y="7661911"/>
                </a:lnTo>
                <a:cubicBezTo>
                  <a:pt x="5424170" y="7828280"/>
                  <a:pt x="6000750" y="7522211"/>
                  <a:pt x="6167120" y="6977380"/>
                </a:cubicBezTo>
                <a:lnTo>
                  <a:pt x="6167120" y="6977380"/>
                </a:lnTo>
                <a:cubicBezTo>
                  <a:pt x="6333490" y="6433820"/>
                  <a:pt x="6027420" y="5857240"/>
                  <a:pt x="5482590" y="5690870"/>
                </a:cubicBezTo>
                <a:lnTo>
                  <a:pt x="4992370" y="5541011"/>
                </a:lnTo>
                <a:cubicBezTo>
                  <a:pt x="5501640" y="5638800"/>
                  <a:pt x="6012180" y="5337810"/>
                  <a:pt x="6167120" y="4831080"/>
                </a:cubicBezTo>
                <a:close/>
              </a:path>
            </a:pathLst>
          </a:custGeom>
          <a:blipFill rotWithShape="1">
            <a:blip r:embed="rId5">
              <a:alphaModFix/>
            </a:blip>
            <a:stretch>
              <a:fillRect b="0" l="-83432" r="-83432"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txBox="1"/>
          <p:nvPr/>
        </p:nvSpPr>
        <p:spPr>
          <a:xfrm>
            <a:off x="4060432" y="1781923"/>
            <a:ext cx="7531251" cy="2110879"/>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i="0" lang="en-US" sz="5150" u="none" cap="none" strike="noStrike">
                <a:solidFill>
                  <a:srgbClr val="FFFFFF"/>
                </a:solidFill>
                <a:latin typeface="Arial"/>
                <a:ea typeface="Arial"/>
                <a:cs typeface="Arial"/>
                <a:sym typeface="Arial"/>
              </a:rPr>
              <a:t>ALCANCES Y LIMITACIONES DEL PROYECTO</a:t>
            </a:r>
            <a:endParaRPr/>
          </a:p>
        </p:txBody>
      </p:sp>
      <p:sp>
        <p:nvSpPr>
          <p:cNvPr id="161" name="Google Shape;161;p8"/>
          <p:cNvSpPr txBox="1"/>
          <p:nvPr/>
        </p:nvSpPr>
        <p:spPr>
          <a:xfrm>
            <a:off x="4060432" y="5040135"/>
            <a:ext cx="6427800" cy="3240000"/>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lang="en-US" sz="2500" u="none" cap="none" strike="noStrike">
                <a:solidFill>
                  <a:srgbClr val="FFFFFF"/>
                </a:solidFill>
              </a:rPr>
              <a:t>ALCANCES:</a:t>
            </a:r>
            <a:endParaRPr/>
          </a:p>
          <a:p>
            <a:pPr indent="0" lvl="0" marL="0" marR="0" rtl="0" algn="l">
              <a:lnSpc>
                <a:spcPct val="105999"/>
              </a:lnSpc>
              <a:spcBef>
                <a:spcPts val="0"/>
              </a:spcBef>
              <a:spcAft>
                <a:spcPts val="0"/>
              </a:spcAft>
              <a:buNone/>
            </a:pPr>
            <a:r>
              <a:rPr lang="en-US" sz="2500" u="none" cap="none" strike="noStrike">
                <a:solidFill>
                  <a:srgbClr val="FFFFFF"/>
                </a:solidFill>
              </a:rPr>
              <a:t>El proyecto busca crear una app web para gestionar finanzas desde cartolas bancarias, usando Python y SQLite, con buen diseño, backend funcional y pruebas del sistema.</a:t>
            </a:r>
            <a:endParaRPr/>
          </a:p>
          <a:p>
            <a:pPr indent="0" lvl="0" marL="0" marR="0" rtl="0" algn="l">
              <a:lnSpc>
                <a:spcPct val="105999"/>
              </a:lnSpc>
              <a:spcBef>
                <a:spcPts val="0"/>
              </a:spcBef>
              <a:spcAft>
                <a:spcPts val="0"/>
              </a:spcAft>
              <a:buNone/>
            </a:pPr>
            <a:r>
              <a:t/>
            </a:r>
            <a:endParaRPr b="0" i="1" sz="2500" u="none" cap="none" strike="noStrike">
              <a:solidFill>
                <a:srgbClr val="FFFFFF"/>
              </a:solidFill>
              <a:latin typeface="Sansita"/>
              <a:ea typeface="Sansita"/>
              <a:cs typeface="Sansita"/>
              <a:sym typeface="Sansita"/>
            </a:endParaRPr>
          </a:p>
          <a:p>
            <a:pPr indent="0" lvl="0" marL="0" marR="0" rtl="0" algn="l">
              <a:lnSpc>
                <a:spcPct val="105999"/>
              </a:lnSpc>
              <a:spcBef>
                <a:spcPts val="0"/>
              </a:spcBef>
              <a:spcAft>
                <a:spcPts val="0"/>
              </a:spcAft>
              <a:buNone/>
            </a:pPr>
            <a:r>
              <a:t/>
            </a:r>
            <a:endParaRPr b="0" i="1" sz="2500" u="none" cap="none" strike="noStrike">
              <a:solidFill>
                <a:srgbClr val="FFFFFF"/>
              </a:solidFill>
              <a:latin typeface="Sansita"/>
              <a:ea typeface="Sansita"/>
              <a:cs typeface="Sansita"/>
              <a:sym typeface="Sansita"/>
            </a:endParaRPr>
          </a:p>
          <a:p>
            <a:pPr indent="0" lvl="0" marL="0" marR="0" rtl="0" algn="l">
              <a:lnSpc>
                <a:spcPct val="105999"/>
              </a:lnSpc>
              <a:spcBef>
                <a:spcPts val="0"/>
              </a:spcBef>
              <a:spcAft>
                <a:spcPts val="0"/>
              </a:spcAft>
              <a:buNone/>
            </a:pPr>
            <a:r>
              <a:t/>
            </a:r>
            <a:endParaRPr b="0" i="1" sz="2500" u="none" cap="none" strike="noStrike">
              <a:solidFill>
                <a:srgbClr val="FFFFFF"/>
              </a:solidFill>
              <a:latin typeface="Sansita"/>
              <a:ea typeface="Sansita"/>
              <a:cs typeface="Sansita"/>
              <a:sym typeface="Sansita"/>
            </a:endParaRPr>
          </a:p>
        </p:txBody>
      </p:sp>
      <p:sp>
        <p:nvSpPr>
          <p:cNvPr id="162" name="Google Shape;162;p8"/>
          <p:cNvSpPr txBox="1"/>
          <p:nvPr/>
        </p:nvSpPr>
        <p:spPr>
          <a:xfrm>
            <a:off x="4060432" y="7608597"/>
            <a:ext cx="6427800" cy="1415400"/>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0" i="0" lang="en-US" sz="2200" u="none" cap="none" strike="noStrike">
                <a:solidFill>
                  <a:srgbClr val="FFFFFF"/>
                </a:solidFill>
                <a:latin typeface="Arial"/>
                <a:ea typeface="Arial"/>
                <a:cs typeface="Arial"/>
                <a:sym typeface="Arial"/>
              </a:rPr>
              <a:t>LIMITACIONES:</a:t>
            </a:r>
            <a:endParaRPr/>
          </a:p>
          <a:p>
            <a:pPr indent="0" lvl="0" marL="0" marR="0" rtl="0" algn="l">
              <a:lnSpc>
                <a:spcPct val="105999"/>
              </a:lnSpc>
              <a:spcBef>
                <a:spcPts val="0"/>
              </a:spcBef>
              <a:spcAft>
                <a:spcPts val="0"/>
              </a:spcAft>
              <a:buNone/>
            </a:pPr>
            <a:r>
              <a:rPr lang="en-US" sz="2200">
                <a:solidFill>
                  <a:srgbClr val="FFFFFF"/>
                </a:solidFill>
              </a:rPr>
              <a:t>Uso de SQLite como base de datos ideal para aplicaciones pequeñas pero no grandes. </a:t>
            </a:r>
            <a:r>
              <a:rPr lang="en-US" sz="2200">
                <a:solidFill>
                  <a:srgbClr val="FFFFFF"/>
                </a:solidFill>
              </a:rPr>
              <a:t>Seguridad</a:t>
            </a:r>
            <a:r>
              <a:rPr lang="en-US" sz="2200">
                <a:solidFill>
                  <a:srgbClr val="FFFFFF"/>
                </a:solidFill>
              </a:rPr>
              <a:t> de la información limitada. Sólo web no móvil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166" name="Shape 166"/>
        <p:cNvGrpSpPr/>
        <p:nvPr/>
      </p:nvGrpSpPr>
      <p:grpSpPr>
        <a:xfrm>
          <a:off x="0" y="0"/>
          <a:ext cx="0" cy="0"/>
          <a:chOff x="0" y="0"/>
          <a:chExt cx="0" cy="0"/>
        </a:xfrm>
      </p:grpSpPr>
      <p:sp>
        <p:nvSpPr>
          <p:cNvPr id="167" name="Google Shape;167;p9"/>
          <p:cNvSpPr txBox="1"/>
          <p:nvPr/>
        </p:nvSpPr>
        <p:spPr>
          <a:xfrm>
            <a:off x="3236606" y="3382992"/>
            <a:ext cx="6422347" cy="3252494"/>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2296" u="none" cap="none" strike="noStrike">
                <a:solidFill>
                  <a:srgbClr val="FFFFFF"/>
                </a:solidFill>
                <a:latin typeface="Arial"/>
                <a:ea typeface="Arial"/>
                <a:cs typeface="Arial"/>
                <a:sym typeface="Arial"/>
              </a:rPr>
              <a:t>Se utilizó la metodología en cascada por su adecuación a proyectos con requerimientos claros y etapas definidas, lo que permitió un trabajo ordenado. Las herramientas incluyeron Python y SQLite en el backend (por su portabilidad), y Django, Bootstrap y Chart.js en el frontend. Para control de versiones se usó GitHub, y Pytest para las pruebas.</a:t>
            </a:r>
            <a:endParaRPr/>
          </a:p>
        </p:txBody>
      </p:sp>
      <p:sp>
        <p:nvSpPr>
          <p:cNvPr id="168" name="Google Shape;168;p9"/>
          <p:cNvSpPr txBox="1"/>
          <p:nvPr/>
        </p:nvSpPr>
        <p:spPr>
          <a:xfrm>
            <a:off x="9908422" y="3382992"/>
            <a:ext cx="6422400" cy="2562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2296" u="none" cap="none" strike="noStrike">
                <a:solidFill>
                  <a:srgbClr val="FFFFFF"/>
                </a:solidFill>
                <a:latin typeface="Arial"/>
                <a:ea typeface="Arial"/>
                <a:cs typeface="Arial"/>
                <a:sym typeface="Arial"/>
              </a:rPr>
              <a:t>Por qu</a:t>
            </a:r>
            <a:r>
              <a:rPr lang="en-US" sz="2296">
                <a:solidFill>
                  <a:srgbClr val="FFFFFF"/>
                </a:solidFill>
              </a:rPr>
              <a:t>é</a:t>
            </a:r>
            <a:r>
              <a:rPr b="0" i="0" lang="en-US" sz="2296" u="none" cap="none" strike="noStrike">
                <a:solidFill>
                  <a:srgbClr val="FFFFFF"/>
                </a:solidFill>
                <a:latin typeface="Arial"/>
                <a:ea typeface="Arial"/>
                <a:cs typeface="Arial"/>
                <a:sym typeface="Arial"/>
              </a:rPr>
              <a:t>: </a:t>
            </a:r>
            <a:endParaRPr b="0" i="0" sz="2296" u="none" cap="none" strike="noStrike">
              <a:solidFill>
                <a:srgbClr val="FFFFFF"/>
              </a:solidFill>
              <a:latin typeface="Arial"/>
              <a:ea typeface="Arial"/>
              <a:cs typeface="Arial"/>
              <a:sym typeface="Arial"/>
            </a:endParaRPr>
          </a:p>
          <a:p>
            <a:pPr indent="-374396" lvl="0" marL="457200" marR="0" rtl="0" algn="l">
              <a:lnSpc>
                <a:spcPct val="125000"/>
              </a:lnSpc>
              <a:spcBef>
                <a:spcPts val="0"/>
              </a:spcBef>
              <a:spcAft>
                <a:spcPts val="0"/>
              </a:spcAft>
              <a:buClr>
                <a:srgbClr val="FFFFFF"/>
              </a:buClr>
              <a:buSzPts val="2296"/>
              <a:buChar char="●"/>
            </a:pPr>
            <a:r>
              <a:rPr lang="en-US" sz="2296">
                <a:solidFill>
                  <a:srgbClr val="FFFFFF"/>
                </a:solidFill>
              </a:rPr>
              <a:t>Teníamos</a:t>
            </a:r>
            <a:r>
              <a:rPr lang="en-US" sz="2296">
                <a:solidFill>
                  <a:srgbClr val="FFFFFF"/>
                </a:solidFill>
              </a:rPr>
              <a:t> claridad de los requerimientos</a:t>
            </a:r>
            <a:endParaRPr sz="2296">
              <a:solidFill>
                <a:srgbClr val="FFFFFF"/>
              </a:solidFill>
            </a:endParaRPr>
          </a:p>
          <a:p>
            <a:pPr indent="-374396" lvl="0" marL="457200" marR="0" rtl="0" algn="l">
              <a:lnSpc>
                <a:spcPct val="125000"/>
              </a:lnSpc>
              <a:spcBef>
                <a:spcPts val="0"/>
              </a:spcBef>
              <a:spcAft>
                <a:spcPts val="0"/>
              </a:spcAft>
              <a:buClr>
                <a:srgbClr val="FFFFFF"/>
              </a:buClr>
              <a:buSzPts val="2296"/>
              <a:buChar char="●"/>
            </a:pPr>
            <a:r>
              <a:rPr lang="en-US" sz="2296">
                <a:solidFill>
                  <a:srgbClr val="FFFFFF"/>
                </a:solidFill>
              </a:rPr>
              <a:t>Recursos y equipo limitado</a:t>
            </a:r>
            <a:endParaRPr sz="2296">
              <a:solidFill>
                <a:srgbClr val="FFFFFF"/>
              </a:solidFill>
            </a:endParaRPr>
          </a:p>
          <a:p>
            <a:pPr indent="-374396" lvl="0" marL="457200" marR="0" rtl="0" algn="l">
              <a:lnSpc>
                <a:spcPct val="125000"/>
              </a:lnSpc>
              <a:spcBef>
                <a:spcPts val="0"/>
              </a:spcBef>
              <a:spcAft>
                <a:spcPts val="0"/>
              </a:spcAft>
              <a:buClr>
                <a:srgbClr val="FFFFFF"/>
              </a:buClr>
              <a:buSzPts val="2296"/>
              <a:buChar char="●"/>
            </a:pPr>
            <a:r>
              <a:rPr lang="en-US" sz="2296">
                <a:solidFill>
                  <a:srgbClr val="FFFFFF"/>
                </a:solidFill>
              </a:rPr>
              <a:t>Facilita control y evaluación</a:t>
            </a:r>
            <a:endParaRPr sz="2296">
              <a:solidFill>
                <a:srgbClr val="FFFFFF"/>
              </a:solidFill>
            </a:endParaRPr>
          </a:p>
          <a:p>
            <a:pPr indent="0" lvl="0" marL="0" marR="0" rtl="0" algn="l">
              <a:lnSpc>
                <a:spcPct val="125000"/>
              </a:lnSpc>
              <a:spcBef>
                <a:spcPts val="0"/>
              </a:spcBef>
              <a:spcAft>
                <a:spcPts val="0"/>
              </a:spcAft>
              <a:buNone/>
            </a:pPr>
            <a:r>
              <a:t/>
            </a:r>
            <a:endParaRPr sz="2296">
              <a:solidFill>
                <a:srgbClr val="FFFFFF"/>
              </a:solidFill>
            </a:endParaRPr>
          </a:p>
          <a:p>
            <a:pPr indent="0" lvl="0" marL="0" marR="0" rtl="0" algn="l">
              <a:lnSpc>
                <a:spcPct val="125000"/>
              </a:lnSpc>
              <a:spcBef>
                <a:spcPts val="0"/>
              </a:spcBef>
              <a:spcAft>
                <a:spcPts val="0"/>
              </a:spcAft>
              <a:buNone/>
            </a:pPr>
            <a:r>
              <a:t/>
            </a:r>
            <a:endParaRPr b="0" i="0" sz="2296" u="none" cap="none" strike="noStrike">
              <a:solidFill>
                <a:srgbClr val="FFFFFF"/>
              </a:solidFill>
              <a:latin typeface="Arial"/>
              <a:ea typeface="Arial"/>
              <a:cs typeface="Arial"/>
              <a:sym typeface="Arial"/>
            </a:endParaRPr>
          </a:p>
        </p:txBody>
      </p:sp>
      <p:sp>
        <p:nvSpPr>
          <p:cNvPr id="169" name="Google Shape;169;p9"/>
          <p:cNvSpPr txBox="1"/>
          <p:nvPr/>
        </p:nvSpPr>
        <p:spPr>
          <a:xfrm>
            <a:off x="3198506" y="2111723"/>
            <a:ext cx="11541302" cy="906145"/>
          </a:xfrm>
          <a:prstGeom prst="rect">
            <a:avLst/>
          </a:prstGeom>
          <a:noFill/>
          <a:ln>
            <a:noFill/>
          </a:ln>
        </p:spPr>
        <p:txBody>
          <a:bodyPr anchorCtr="0" anchor="t" bIns="0" lIns="0" spcFirstLastPara="1" rIns="0" wrap="square" tIns="0">
            <a:spAutoFit/>
          </a:bodyPr>
          <a:lstStyle/>
          <a:p>
            <a:pPr indent="0" lvl="0" marL="0" marR="0" rtl="0" algn="l">
              <a:lnSpc>
                <a:spcPct val="105999"/>
              </a:lnSpc>
              <a:spcBef>
                <a:spcPts val="0"/>
              </a:spcBef>
              <a:spcAft>
                <a:spcPts val="0"/>
              </a:spcAft>
              <a:buNone/>
            </a:pPr>
            <a:r>
              <a:rPr b="1" i="0" lang="en-US" sz="6500" u="none" cap="none" strike="noStrike">
                <a:solidFill>
                  <a:srgbClr val="FFFFFF"/>
                </a:solidFill>
                <a:latin typeface="Arial"/>
                <a:ea typeface="Arial"/>
                <a:cs typeface="Arial"/>
                <a:sym typeface="Arial"/>
              </a:rPr>
              <a:t>METODOLOGÍA</a:t>
            </a:r>
            <a:endParaRPr/>
          </a:p>
        </p:txBody>
      </p:sp>
      <p:sp>
        <p:nvSpPr>
          <p:cNvPr id="170" name="Google Shape;170;p9"/>
          <p:cNvSpPr/>
          <p:nvPr/>
        </p:nvSpPr>
        <p:spPr>
          <a:xfrm>
            <a:off x="1957231" y="1841764"/>
            <a:ext cx="939967" cy="939967"/>
          </a:xfrm>
          <a:custGeom>
            <a:rect b="b" l="l" r="r" t="t"/>
            <a:pathLst>
              <a:path extrusionOk="0" h="939967" w="939967">
                <a:moveTo>
                  <a:pt x="0" y="0"/>
                </a:moveTo>
                <a:lnTo>
                  <a:pt x="939967" y="0"/>
                </a:lnTo>
                <a:lnTo>
                  <a:pt x="939967" y="939967"/>
                </a:lnTo>
                <a:lnTo>
                  <a:pt x="0" y="939967"/>
                </a:lnTo>
                <a:lnTo>
                  <a:pt x="0" y="0"/>
                </a:lnTo>
                <a:close/>
              </a:path>
            </a:pathLst>
          </a:custGeom>
          <a:blipFill rotWithShape="1">
            <a:blip r:embed="rId3">
              <a:alphaModFix/>
            </a:blip>
            <a:stretch>
              <a:fillRect b="0" l="0" r="0" t="0"/>
            </a:stretch>
          </a:blipFill>
          <a:ln>
            <a:noFill/>
          </a:ln>
        </p:spPr>
      </p:sp>
      <p:sp>
        <p:nvSpPr>
          <p:cNvPr id="171" name="Google Shape;171;p9"/>
          <p:cNvSpPr txBox="1"/>
          <p:nvPr/>
        </p:nvSpPr>
        <p:spPr>
          <a:xfrm>
            <a:off x="2202637" y="2104443"/>
            <a:ext cx="468947" cy="432918"/>
          </a:xfrm>
          <a:prstGeom prst="rect">
            <a:avLst/>
          </a:prstGeom>
          <a:noFill/>
          <a:ln>
            <a:noFill/>
          </a:ln>
        </p:spPr>
        <p:txBody>
          <a:bodyPr anchorCtr="0" anchor="t" bIns="0" lIns="0" spcFirstLastPara="1" rIns="0" wrap="square" tIns="0">
            <a:spAutoFit/>
          </a:bodyPr>
          <a:lstStyle/>
          <a:p>
            <a:pPr indent="0" lvl="0" marL="0" marR="0" rtl="0" algn="ctr">
              <a:lnSpc>
                <a:spcPct val="106001"/>
              </a:lnSpc>
              <a:spcBef>
                <a:spcPts val="0"/>
              </a:spcBef>
              <a:spcAft>
                <a:spcPts val="0"/>
              </a:spcAft>
              <a:buNone/>
            </a:pPr>
            <a:r>
              <a:rPr b="1" i="0" lang="en-US" sz="3116" u="none" cap="none" strike="noStrike">
                <a:solidFill>
                  <a:srgbClr val="FFFFFF"/>
                </a:solidFill>
                <a:latin typeface="Arial"/>
                <a:ea typeface="Arial"/>
                <a:cs typeface="Arial"/>
                <a:sym typeface="Arial"/>
              </a:rPr>
              <a:t>3</a:t>
            </a:r>
            <a:endParaRPr/>
          </a:p>
        </p:txBody>
      </p:sp>
      <p:sp>
        <p:nvSpPr>
          <p:cNvPr id="172" name="Google Shape;172;p9"/>
          <p:cNvSpPr/>
          <p:nvPr/>
        </p:nvSpPr>
        <p:spPr>
          <a:xfrm rot="-5400000">
            <a:off x="15861369" y="-1805338"/>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173" name="Google Shape;173;p9"/>
          <p:cNvSpPr/>
          <p:nvPr/>
        </p:nvSpPr>
        <p:spPr>
          <a:xfrm flipH="1" rot="-8923818">
            <a:off x="15184806" y="7380059"/>
            <a:ext cx="3234258" cy="2619749"/>
          </a:xfrm>
          <a:custGeom>
            <a:rect b="b" l="l" r="r" t="t"/>
            <a:pathLst>
              <a:path extrusionOk="0" h="2619749" w="3234258">
                <a:moveTo>
                  <a:pt x="0" y="2619749"/>
                </a:moveTo>
                <a:lnTo>
                  <a:pt x="3234258" y="2619749"/>
                </a:lnTo>
                <a:lnTo>
                  <a:pt x="3234258" y="0"/>
                </a:lnTo>
                <a:lnTo>
                  <a:pt x="0" y="0"/>
                </a:lnTo>
                <a:lnTo>
                  <a:pt x="0" y="2619749"/>
                </a:lnTo>
                <a:close/>
              </a:path>
            </a:pathLst>
          </a:custGeom>
          <a:blipFill rotWithShape="1">
            <a:blip r:embed="rId5">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177" name="Shape 177"/>
        <p:cNvGrpSpPr/>
        <p:nvPr/>
      </p:nvGrpSpPr>
      <p:grpSpPr>
        <a:xfrm>
          <a:off x="0" y="0"/>
          <a:ext cx="0" cy="0"/>
          <a:chOff x="0" y="0"/>
          <a:chExt cx="0" cy="0"/>
        </a:xfrm>
      </p:grpSpPr>
      <p:sp>
        <p:nvSpPr>
          <p:cNvPr id="178" name="Google Shape;178;p10"/>
          <p:cNvSpPr/>
          <p:nvPr/>
        </p:nvSpPr>
        <p:spPr>
          <a:xfrm>
            <a:off x="460977" y="153551"/>
            <a:ext cx="939967" cy="939967"/>
          </a:xfrm>
          <a:custGeom>
            <a:rect b="b" l="l" r="r" t="t"/>
            <a:pathLst>
              <a:path extrusionOk="0" h="939967" w="939967">
                <a:moveTo>
                  <a:pt x="0" y="0"/>
                </a:moveTo>
                <a:lnTo>
                  <a:pt x="939967" y="0"/>
                </a:lnTo>
                <a:lnTo>
                  <a:pt x="939967" y="939967"/>
                </a:lnTo>
                <a:lnTo>
                  <a:pt x="0" y="939967"/>
                </a:lnTo>
                <a:lnTo>
                  <a:pt x="0" y="0"/>
                </a:lnTo>
                <a:close/>
              </a:path>
            </a:pathLst>
          </a:custGeom>
          <a:blipFill rotWithShape="1">
            <a:blip r:embed="rId3">
              <a:alphaModFix/>
            </a:blip>
            <a:stretch>
              <a:fillRect b="0" l="0" r="0" t="0"/>
            </a:stretch>
          </a:blipFill>
          <a:ln>
            <a:noFill/>
          </a:ln>
        </p:spPr>
      </p:sp>
      <p:sp>
        <p:nvSpPr>
          <p:cNvPr id="179" name="Google Shape;179;p10"/>
          <p:cNvSpPr/>
          <p:nvPr/>
        </p:nvSpPr>
        <p:spPr>
          <a:xfrm>
            <a:off x="16904490" y="1028700"/>
            <a:ext cx="2767019" cy="1155231"/>
          </a:xfrm>
          <a:custGeom>
            <a:rect b="b" l="l" r="r" t="t"/>
            <a:pathLst>
              <a:path extrusionOk="0" h="1155231" w="2767019">
                <a:moveTo>
                  <a:pt x="0" y="0"/>
                </a:moveTo>
                <a:lnTo>
                  <a:pt x="2767020" y="0"/>
                </a:lnTo>
                <a:lnTo>
                  <a:pt x="2767020" y="1155231"/>
                </a:lnTo>
                <a:lnTo>
                  <a:pt x="0" y="1155231"/>
                </a:lnTo>
                <a:lnTo>
                  <a:pt x="0" y="0"/>
                </a:lnTo>
                <a:close/>
              </a:path>
            </a:pathLst>
          </a:custGeom>
          <a:blipFill rotWithShape="1">
            <a:blip r:embed="rId4">
              <a:alphaModFix/>
            </a:blip>
            <a:stretch>
              <a:fillRect b="0" l="0" r="0" t="0"/>
            </a:stretch>
          </a:blipFill>
          <a:ln>
            <a:noFill/>
          </a:ln>
        </p:spPr>
      </p:sp>
      <p:sp>
        <p:nvSpPr>
          <p:cNvPr id="180" name="Google Shape;180;p10"/>
          <p:cNvSpPr txBox="1"/>
          <p:nvPr/>
        </p:nvSpPr>
        <p:spPr>
          <a:xfrm>
            <a:off x="1400944" y="631873"/>
            <a:ext cx="11274829" cy="566420"/>
          </a:xfrm>
          <a:prstGeom prst="rect">
            <a:avLst/>
          </a:prstGeom>
          <a:noFill/>
          <a:ln>
            <a:noFill/>
          </a:ln>
        </p:spPr>
        <p:txBody>
          <a:bodyPr anchorCtr="0" anchor="t" bIns="0" lIns="0" spcFirstLastPara="1" rIns="0" wrap="square" tIns="0">
            <a:spAutoFit/>
          </a:bodyPr>
          <a:lstStyle/>
          <a:p>
            <a:pPr indent="0" lvl="0" marL="0" marR="0" rtl="0" algn="l">
              <a:lnSpc>
                <a:spcPct val="106001"/>
              </a:lnSpc>
              <a:spcBef>
                <a:spcPts val="0"/>
              </a:spcBef>
              <a:spcAft>
                <a:spcPts val="0"/>
              </a:spcAft>
              <a:buNone/>
            </a:pPr>
            <a:r>
              <a:rPr b="0" i="0" lang="en-US" sz="3999" u="none" cap="none" strike="noStrike">
                <a:solidFill>
                  <a:srgbClr val="FFFFFF"/>
                </a:solidFill>
                <a:latin typeface="Arial"/>
                <a:ea typeface="Arial"/>
                <a:cs typeface="Arial"/>
                <a:sym typeface="Arial"/>
              </a:rPr>
              <a:t>CRONOGRAMA </a:t>
            </a:r>
            <a:endParaRPr/>
          </a:p>
        </p:txBody>
      </p:sp>
      <p:cxnSp>
        <p:nvCxnSpPr>
          <p:cNvPr id="181" name="Google Shape;181;p10"/>
          <p:cNvCxnSpPr/>
          <p:nvPr/>
        </p:nvCxnSpPr>
        <p:spPr>
          <a:xfrm rot="5400000">
            <a:off x="800049" y="6940570"/>
            <a:ext cx="7373855" cy="0"/>
          </a:xfrm>
          <a:prstGeom prst="straightConnector1">
            <a:avLst/>
          </a:prstGeom>
          <a:noFill/>
          <a:ln cap="rnd" cmpd="sng" w="9525">
            <a:solidFill>
              <a:srgbClr val="000000">
                <a:alpha val="29803"/>
              </a:srgbClr>
            </a:solidFill>
            <a:prstDash val="solid"/>
            <a:round/>
            <a:headEnd len="sm" w="sm" type="none"/>
            <a:tailEnd len="sm" w="sm" type="none"/>
          </a:ln>
        </p:spPr>
      </p:cxnSp>
      <p:cxnSp>
        <p:nvCxnSpPr>
          <p:cNvPr id="182" name="Google Shape;182;p10"/>
          <p:cNvCxnSpPr/>
          <p:nvPr/>
        </p:nvCxnSpPr>
        <p:spPr>
          <a:xfrm rot="5400000">
            <a:off x="3994098" y="7118444"/>
            <a:ext cx="7729605" cy="0"/>
          </a:xfrm>
          <a:prstGeom prst="straightConnector1">
            <a:avLst/>
          </a:prstGeom>
          <a:noFill/>
          <a:ln cap="rnd" cmpd="sng" w="9525">
            <a:solidFill>
              <a:srgbClr val="000000">
                <a:alpha val="29803"/>
              </a:srgbClr>
            </a:solidFill>
            <a:prstDash val="solid"/>
            <a:round/>
            <a:headEnd len="sm" w="sm" type="none"/>
            <a:tailEnd len="sm" w="sm" type="none"/>
          </a:ln>
        </p:spPr>
      </p:cxnSp>
      <p:cxnSp>
        <p:nvCxnSpPr>
          <p:cNvPr id="183" name="Google Shape;183;p10"/>
          <p:cNvCxnSpPr/>
          <p:nvPr/>
        </p:nvCxnSpPr>
        <p:spPr>
          <a:xfrm rot="5400000">
            <a:off x="7459722" y="7034270"/>
            <a:ext cx="7542205" cy="0"/>
          </a:xfrm>
          <a:prstGeom prst="straightConnector1">
            <a:avLst/>
          </a:prstGeom>
          <a:noFill/>
          <a:ln cap="rnd" cmpd="sng" w="9525">
            <a:solidFill>
              <a:srgbClr val="000000">
                <a:alpha val="29803"/>
              </a:srgbClr>
            </a:solidFill>
            <a:prstDash val="solid"/>
            <a:round/>
            <a:headEnd len="sm" w="sm" type="none"/>
            <a:tailEnd len="sm" w="sm" type="none"/>
          </a:ln>
        </p:spPr>
      </p:cxnSp>
      <p:cxnSp>
        <p:nvCxnSpPr>
          <p:cNvPr id="184" name="Google Shape;184;p10"/>
          <p:cNvCxnSpPr/>
          <p:nvPr/>
        </p:nvCxnSpPr>
        <p:spPr>
          <a:xfrm rot="5400000">
            <a:off x="10831646" y="7034270"/>
            <a:ext cx="7542205" cy="0"/>
          </a:xfrm>
          <a:prstGeom prst="straightConnector1">
            <a:avLst/>
          </a:prstGeom>
          <a:noFill/>
          <a:ln cap="rnd" cmpd="sng" w="9525">
            <a:solidFill>
              <a:srgbClr val="000000">
                <a:alpha val="29803"/>
              </a:srgbClr>
            </a:solidFill>
            <a:prstDash val="solid"/>
            <a:round/>
            <a:headEnd len="sm" w="sm" type="none"/>
            <a:tailEnd len="sm" w="sm" type="none"/>
          </a:ln>
        </p:spPr>
      </p:cxnSp>
      <p:cxnSp>
        <p:nvCxnSpPr>
          <p:cNvPr id="185" name="Google Shape;185;p10"/>
          <p:cNvCxnSpPr/>
          <p:nvPr/>
        </p:nvCxnSpPr>
        <p:spPr>
          <a:xfrm>
            <a:off x="-176175" y="3258405"/>
            <a:ext cx="18780128" cy="0"/>
          </a:xfrm>
          <a:prstGeom prst="straightConnector1">
            <a:avLst/>
          </a:prstGeom>
          <a:noFill/>
          <a:ln cap="rnd" cmpd="sng" w="9525">
            <a:solidFill>
              <a:srgbClr val="000000">
                <a:alpha val="29803"/>
              </a:srgbClr>
            </a:solidFill>
            <a:prstDash val="solid"/>
            <a:round/>
            <a:headEnd len="sm" w="sm" type="none"/>
            <a:tailEnd len="sm" w="sm" type="none"/>
          </a:ln>
        </p:spPr>
      </p:cxnSp>
      <p:cxnSp>
        <p:nvCxnSpPr>
          <p:cNvPr id="186" name="Google Shape;186;p10"/>
          <p:cNvCxnSpPr/>
          <p:nvPr/>
        </p:nvCxnSpPr>
        <p:spPr>
          <a:xfrm>
            <a:off x="-176175" y="5442023"/>
            <a:ext cx="18780128" cy="0"/>
          </a:xfrm>
          <a:prstGeom prst="straightConnector1">
            <a:avLst/>
          </a:prstGeom>
          <a:noFill/>
          <a:ln cap="rnd" cmpd="sng" w="9525">
            <a:solidFill>
              <a:srgbClr val="000000">
                <a:alpha val="29803"/>
              </a:srgbClr>
            </a:solidFill>
            <a:prstDash val="solid"/>
            <a:round/>
            <a:headEnd len="sm" w="sm" type="none"/>
            <a:tailEnd len="sm" w="sm" type="none"/>
          </a:ln>
        </p:spPr>
      </p:cxnSp>
      <p:cxnSp>
        <p:nvCxnSpPr>
          <p:cNvPr id="187" name="Google Shape;187;p10"/>
          <p:cNvCxnSpPr/>
          <p:nvPr/>
        </p:nvCxnSpPr>
        <p:spPr>
          <a:xfrm>
            <a:off x="-379473" y="7722585"/>
            <a:ext cx="19186724" cy="0"/>
          </a:xfrm>
          <a:prstGeom prst="straightConnector1">
            <a:avLst/>
          </a:prstGeom>
          <a:noFill/>
          <a:ln cap="rnd" cmpd="sng" w="9525">
            <a:solidFill>
              <a:srgbClr val="000000">
                <a:alpha val="29803"/>
              </a:srgbClr>
            </a:solidFill>
            <a:prstDash val="solid"/>
            <a:round/>
            <a:headEnd len="sm" w="sm" type="none"/>
            <a:tailEnd len="sm" w="sm" type="none"/>
          </a:ln>
        </p:spPr>
      </p:cxnSp>
      <p:sp>
        <p:nvSpPr>
          <p:cNvPr id="188" name="Google Shape;188;p10"/>
          <p:cNvSpPr/>
          <p:nvPr/>
        </p:nvSpPr>
        <p:spPr>
          <a:xfrm>
            <a:off x="4491739" y="3566551"/>
            <a:ext cx="3647760" cy="700234"/>
          </a:xfrm>
          <a:custGeom>
            <a:rect b="b" l="l" r="r" t="t"/>
            <a:pathLst>
              <a:path extrusionOk="0" h="1898914" w="9892093">
                <a:moveTo>
                  <a:pt x="9892093" y="949457"/>
                </a:moveTo>
                <a:cubicBezTo>
                  <a:pt x="9892093" y="1470416"/>
                  <a:pt x="9463722" y="1898914"/>
                  <a:pt x="8935148" y="1898914"/>
                </a:cubicBezTo>
                <a:lnTo>
                  <a:pt x="956945" y="1898914"/>
                </a:lnTo>
                <a:cubicBezTo>
                  <a:pt x="428371" y="1898914"/>
                  <a:pt x="0" y="1470416"/>
                  <a:pt x="0" y="949457"/>
                </a:cubicBezTo>
                <a:cubicBezTo>
                  <a:pt x="0" y="428371"/>
                  <a:pt x="428371" y="0"/>
                  <a:pt x="956945" y="0"/>
                </a:cubicBezTo>
                <a:lnTo>
                  <a:pt x="8935148" y="0"/>
                </a:lnTo>
                <a:cubicBezTo>
                  <a:pt x="9463595" y="0"/>
                  <a:pt x="9892093" y="428371"/>
                  <a:pt x="9892093" y="949457"/>
                </a:cubicBezTo>
                <a:close/>
              </a:path>
            </a:pathLst>
          </a:custGeom>
          <a:solidFill>
            <a:srgbClr val="E5C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7296973" y="6689064"/>
            <a:ext cx="5908045" cy="700234"/>
          </a:xfrm>
          <a:custGeom>
            <a:rect b="b" l="l" r="r" t="t"/>
            <a:pathLst>
              <a:path extrusionOk="0" h="1898914" w="16021594">
                <a:moveTo>
                  <a:pt x="16021594" y="949457"/>
                </a:moveTo>
                <a:cubicBezTo>
                  <a:pt x="16021594" y="1470416"/>
                  <a:pt x="15593222" y="1898914"/>
                  <a:pt x="15064648" y="1898914"/>
                </a:cubicBezTo>
                <a:lnTo>
                  <a:pt x="956945" y="1898914"/>
                </a:lnTo>
                <a:cubicBezTo>
                  <a:pt x="428371" y="1898914"/>
                  <a:pt x="0" y="1470416"/>
                  <a:pt x="0" y="949457"/>
                </a:cubicBezTo>
                <a:cubicBezTo>
                  <a:pt x="0" y="428371"/>
                  <a:pt x="428371" y="0"/>
                  <a:pt x="956945" y="0"/>
                </a:cubicBezTo>
                <a:lnTo>
                  <a:pt x="15064648" y="0"/>
                </a:lnTo>
                <a:cubicBezTo>
                  <a:pt x="15593096" y="0"/>
                  <a:pt x="16021594" y="428371"/>
                  <a:pt x="16021594" y="949457"/>
                </a:cubicBezTo>
                <a:close/>
              </a:path>
            </a:pathLst>
          </a:custGeom>
          <a:solidFill>
            <a:srgbClr val="C8FF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6287749" y="5746823"/>
            <a:ext cx="3250286" cy="700234"/>
          </a:xfrm>
          <a:custGeom>
            <a:rect b="b" l="l" r="r" t="t"/>
            <a:pathLst>
              <a:path extrusionOk="0" h="1898914" w="8814214">
                <a:moveTo>
                  <a:pt x="8814214" y="949457"/>
                </a:moveTo>
                <a:cubicBezTo>
                  <a:pt x="8814214" y="1470416"/>
                  <a:pt x="8385842" y="1898914"/>
                  <a:pt x="7857268" y="1898914"/>
                </a:cubicBezTo>
                <a:lnTo>
                  <a:pt x="956945" y="1898914"/>
                </a:lnTo>
                <a:cubicBezTo>
                  <a:pt x="428371" y="1898914"/>
                  <a:pt x="0" y="1470416"/>
                  <a:pt x="0" y="949457"/>
                </a:cubicBezTo>
                <a:cubicBezTo>
                  <a:pt x="0" y="428371"/>
                  <a:pt x="428371" y="0"/>
                  <a:pt x="956945" y="0"/>
                </a:cubicBezTo>
                <a:lnTo>
                  <a:pt x="7857268" y="0"/>
                </a:lnTo>
                <a:cubicBezTo>
                  <a:pt x="8385716" y="0"/>
                  <a:pt x="8814214" y="428371"/>
                  <a:pt x="8814214" y="949457"/>
                </a:cubicBezTo>
                <a:close/>
              </a:path>
            </a:pathLst>
          </a:custGeom>
          <a:solidFill>
            <a:srgbClr val="C8FF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5327588" y="4443266"/>
            <a:ext cx="3647760" cy="700234"/>
          </a:xfrm>
          <a:custGeom>
            <a:rect b="b" l="l" r="r" t="t"/>
            <a:pathLst>
              <a:path extrusionOk="0" h="1898914" w="9892093">
                <a:moveTo>
                  <a:pt x="9892093" y="949457"/>
                </a:moveTo>
                <a:cubicBezTo>
                  <a:pt x="9892093" y="1470416"/>
                  <a:pt x="9463722" y="1898914"/>
                  <a:pt x="8935148" y="1898914"/>
                </a:cubicBezTo>
                <a:lnTo>
                  <a:pt x="956945" y="1898914"/>
                </a:lnTo>
                <a:cubicBezTo>
                  <a:pt x="428371" y="1898914"/>
                  <a:pt x="0" y="1470416"/>
                  <a:pt x="0" y="949457"/>
                </a:cubicBezTo>
                <a:cubicBezTo>
                  <a:pt x="0" y="428371"/>
                  <a:pt x="428371" y="0"/>
                  <a:pt x="956945" y="0"/>
                </a:cubicBezTo>
                <a:lnTo>
                  <a:pt x="8935148" y="0"/>
                </a:lnTo>
                <a:cubicBezTo>
                  <a:pt x="9463595" y="0"/>
                  <a:pt x="9892093" y="428371"/>
                  <a:pt x="9892093" y="949457"/>
                </a:cubicBezTo>
                <a:close/>
              </a:path>
            </a:pathLst>
          </a:custGeom>
          <a:solidFill>
            <a:srgbClr val="E5C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10302258" y="8083948"/>
            <a:ext cx="4012869" cy="700234"/>
          </a:xfrm>
          <a:custGeom>
            <a:rect b="b" l="l" r="r" t="t"/>
            <a:pathLst>
              <a:path extrusionOk="0" h="1898914" w="10882206">
                <a:moveTo>
                  <a:pt x="10882206" y="949457"/>
                </a:moveTo>
                <a:cubicBezTo>
                  <a:pt x="10882206" y="1470416"/>
                  <a:pt x="10453835" y="1898914"/>
                  <a:pt x="9925261" y="1898914"/>
                </a:cubicBezTo>
                <a:lnTo>
                  <a:pt x="956945" y="1898914"/>
                </a:lnTo>
                <a:cubicBezTo>
                  <a:pt x="428371" y="1898914"/>
                  <a:pt x="0" y="1470416"/>
                  <a:pt x="0" y="949457"/>
                </a:cubicBezTo>
                <a:cubicBezTo>
                  <a:pt x="0" y="428371"/>
                  <a:pt x="428371" y="0"/>
                  <a:pt x="956945" y="0"/>
                </a:cubicBezTo>
                <a:lnTo>
                  <a:pt x="9925261" y="0"/>
                </a:lnTo>
                <a:cubicBezTo>
                  <a:pt x="10453708" y="0"/>
                  <a:pt x="10882206" y="428371"/>
                  <a:pt x="10882206" y="949457"/>
                </a:cubicBezTo>
                <a:close/>
              </a:path>
            </a:pathLst>
          </a:custGeom>
          <a:solidFill>
            <a:srgbClr val="594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13466031" y="8987905"/>
            <a:ext cx="3637698" cy="700234"/>
          </a:xfrm>
          <a:custGeom>
            <a:rect b="b" l="l" r="r" t="t"/>
            <a:pathLst>
              <a:path extrusionOk="0" h="1898914" w="9864807">
                <a:moveTo>
                  <a:pt x="9864807" y="949457"/>
                </a:moveTo>
                <a:cubicBezTo>
                  <a:pt x="9864807" y="1470416"/>
                  <a:pt x="9436436" y="1898914"/>
                  <a:pt x="8907862" y="1898914"/>
                </a:cubicBezTo>
                <a:lnTo>
                  <a:pt x="956945" y="1898914"/>
                </a:lnTo>
                <a:cubicBezTo>
                  <a:pt x="428371" y="1898914"/>
                  <a:pt x="0" y="1470416"/>
                  <a:pt x="0" y="949457"/>
                </a:cubicBezTo>
                <a:cubicBezTo>
                  <a:pt x="0" y="428371"/>
                  <a:pt x="428371" y="0"/>
                  <a:pt x="956945" y="0"/>
                </a:cubicBezTo>
                <a:lnTo>
                  <a:pt x="8907862" y="0"/>
                </a:lnTo>
                <a:cubicBezTo>
                  <a:pt x="9436309" y="0"/>
                  <a:pt x="9864807" y="428371"/>
                  <a:pt x="9864807" y="949457"/>
                </a:cubicBezTo>
                <a:close/>
              </a:path>
            </a:pathLst>
          </a:custGeom>
          <a:solidFill>
            <a:srgbClr val="594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txBox="1"/>
          <p:nvPr/>
        </p:nvSpPr>
        <p:spPr>
          <a:xfrm>
            <a:off x="1028700" y="3951825"/>
            <a:ext cx="2689366" cy="772795"/>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b="0" i="0" lang="en-US" sz="2199" u="none" cap="none" strike="noStrike">
                <a:solidFill>
                  <a:srgbClr val="EEEEEE"/>
                </a:solidFill>
                <a:latin typeface="Arial"/>
                <a:ea typeface="Arial"/>
                <a:cs typeface="Arial"/>
                <a:sym typeface="Arial"/>
              </a:rPr>
              <a:t>Definición proyecto</a:t>
            </a:r>
            <a:endParaRPr/>
          </a:p>
        </p:txBody>
      </p:sp>
      <p:sp>
        <p:nvSpPr>
          <p:cNvPr id="195" name="Google Shape;195;p10"/>
          <p:cNvSpPr txBox="1"/>
          <p:nvPr/>
        </p:nvSpPr>
        <p:spPr>
          <a:xfrm>
            <a:off x="1028700" y="6204688"/>
            <a:ext cx="2689366" cy="772795"/>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b="0" i="0" lang="en-US" sz="2199" u="none" cap="none" strike="noStrike">
                <a:solidFill>
                  <a:srgbClr val="EEEEEE"/>
                </a:solidFill>
                <a:latin typeface="Arial"/>
                <a:ea typeface="Arial"/>
                <a:cs typeface="Arial"/>
                <a:sym typeface="Arial"/>
              </a:rPr>
              <a:t>Desarrollo Proyecto</a:t>
            </a:r>
            <a:endParaRPr/>
          </a:p>
        </p:txBody>
      </p:sp>
      <p:sp>
        <p:nvSpPr>
          <p:cNvPr id="196" name="Google Shape;196;p10"/>
          <p:cNvSpPr txBox="1"/>
          <p:nvPr/>
        </p:nvSpPr>
        <p:spPr>
          <a:xfrm>
            <a:off x="5327588" y="2450831"/>
            <a:ext cx="1710771" cy="58674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EEEEEE"/>
                </a:solidFill>
                <a:latin typeface="Arial"/>
                <a:ea typeface="Arial"/>
                <a:cs typeface="Arial"/>
                <a:sym typeface="Arial"/>
              </a:rPr>
              <a:t>Etapa 1 17-03 07-04 </a:t>
            </a:r>
            <a:endParaRPr/>
          </a:p>
        </p:txBody>
      </p:sp>
      <p:sp>
        <p:nvSpPr>
          <p:cNvPr id="197" name="Google Shape;197;p10"/>
          <p:cNvSpPr txBox="1"/>
          <p:nvPr/>
        </p:nvSpPr>
        <p:spPr>
          <a:xfrm>
            <a:off x="8592482" y="2450831"/>
            <a:ext cx="1969373" cy="58674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EEEEEE"/>
                </a:solidFill>
                <a:latin typeface="Arial"/>
                <a:ea typeface="Arial"/>
                <a:cs typeface="Arial"/>
                <a:sym typeface="Arial"/>
              </a:rPr>
              <a:t>Etapa 2 14-04 12-05</a:t>
            </a:r>
            <a:endParaRPr/>
          </a:p>
        </p:txBody>
      </p:sp>
      <p:sp>
        <p:nvSpPr>
          <p:cNvPr id="198" name="Google Shape;198;p10"/>
          <p:cNvSpPr txBox="1"/>
          <p:nvPr/>
        </p:nvSpPr>
        <p:spPr>
          <a:xfrm>
            <a:off x="12115979" y="2598468"/>
            <a:ext cx="1710771" cy="2914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EEEEEE"/>
                </a:solidFill>
                <a:latin typeface="Arial"/>
                <a:ea typeface="Arial"/>
                <a:cs typeface="Arial"/>
                <a:sym typeface="Arial"/>
              </a:rPr>
              <a:t>Etapa 3 16-06</a:t>
            </a:r>
            <a:endParaRPr/>
          </a:p>
        </p:txBody>
      </p:sp>
      <p:sp>
        <p:nvSpPr>
          <p:cNvPr id="199" name="Google Shape;199;p10"/>
          <p:cNvSpPr txBox="1"/>
          <p:nvPr/>
        </p:nvSpPr>
        <p:spPr>
          <a:xfrm>
            <a:off x="15380873" y="2598468"/>
            <a:ext cx="1710771" cy="2914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EEEEEE"/>
                </a:solidFill>
                <a:latin typeface="Arial"/>
                <a:ea typeface="Arial"/>
                <a:cs typeface="Arial"/>
                <a:sym typeface="Arial"/>
              </a:rPr>
              <a:t>Etapa 4 23-06</a:t>
            </a:r>
            <a:endParaRPr/>
          </a:p>
        </p:txBody>
      </p:sp>
      <p:sp>
        <p:nvSpPr>
          <p:cNvPr id="200" name="Google Shape;200;p10"/>
          <p:cNvSpPr txBox="1"/>
          <p:nvPr/>
        </p:nvSpPr>
        <p:spPr>
          <a:xfrm>
            <a:off x="1028700" y="2588943"/>
            <a:ext cx="2689366" cy="3886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400" u="none" cap="none" strike="noStrike">
                <a:solidFill>
                  <a:srgbClr val="EEEEEE"/>
                </a:solidFill>
                <a:latin typeface="Arial"/>
                <a:ea typeface="Arial"/>
                <a:cs typeface="Arial"/>
                <a:sym typeface="Arial"/>
              </a:rPr>
              <a:t>Tarea</a:t>
            </a:r>
            <a:endParaRPr/>
          </a:p>
        </p:txBody>
      </p:sp>
      <p:sp>
        <p:nvSpPr>
          <p:cNvPr id="201" name="Google Shape;201;p10"/>
          <p:cNvSpPr txBox="1"/>
          <p:nvPr/>
        </p:nvSpPr>
        <p:spPr>
          <a:xfrm>
            <a:off x="4794726" y="3770935"/>
            <a:ext cx="3078583" cy="2914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000000"/>
                </a:solidFill>
                <a:latin typeface="Arial"/>
                <a:ea typeface="Arial"/>
                <a:cs typeface="Arial"/>
                <a:sym typeface="Arial"/>
              </a:rPr>
              <a:t>Planificación y diseño</a:t>
            </a:r>
            <a:endParaRPr/>
          </a:p>
        </p:txBody>
      </p:sp>
      <p:sp>
        <p:nvSpPr>
          <p:cNvPr id="202" name="Google Shape;202;p10"/>
          <p:cNvSpPr txBox="1"/>
          <p:nvPr/>
        </p:nvSpPr>
        <p:spPr>
          <a:xfrm>
            <a:off x="5780602" y="4638125"/>
            <a:ext cx="2954803" cy="2914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000000"/>
                </a:solidFill>
                <a:latin typeface="Arial"/>
                <a:ea typeface="Arial"/>
                <a:cs typeface="Arial"/>
                <a:sym typeface="Arial"/>
              </a:rPr>
              <a:t>Documentación</a:t>
            </a:r>
            <a:endParaRPr/>
          </a:p>
        </p:txBody>
      </p:sp>
      <p:sp>
        <p:nvSpPr>
          <p:cNvPr id="203" name="Google Shape;203;p10"/>
          <p:cNvSpPr txBox="1"/>
          <p:nvPr/>
        </p:nvSpPr>
        <p:spPr>
          <a:xfrm>
            <a:off x="6550263" y="5965898"/>
            <a:ext cx="2725258" cy="2914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000000"/>
                </a:solidFill>
                <a:latin typeface="Arial"/>
                <a:ea typeface="Arial"/>
                <a:cs typeface="Arial"/>
                <a:sym typeface="Arial"/>
              </a:rPr>
              <a:t>Configuración entorno</a:t>
            </a:r>
            <a:endParaRPr/>
          </a:p>
        </p:txBody>
      </p:sp>
      <p:sp>
        <p:nvSpPr>
          <p:cNvPr id="204" name="Google Shape;204;p10"/>
          <p:cNvSpPr txBox="1"/>
          <p:nvPr/>
        </p:nvSpPr>
        <p:spPr>
          <a:xfrm>
            <a:off x="7912892" y="6883924"/>
            <a:ext cx="3720752" cy="2914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000000"/>
                </a:solidFill>
                <a:latin typeface="Arial"/>
                <a:ea typeface="Arial"/>
                <a:cs typeface="Arial"/>
                <a:sym typeface="Arial"/>
              </a:rPr>
              <a:t>Testeo y entrega funcional</a:t>
            </a:r>
            <a:endParaRPr/>
          </a:p>
        </p:txBody>
      </p:sp>
      <p:sp>
        <p:nvSpPr>
          <p:cNvPr id="205" name="Google Shape;205;p10"/>
          <p:cNvSpPr txBox="1"/>
          <p:nvPr/>
        </p:nvSpPr>
        <p:spPr>
          <a:xfrm>
            <a:off x="10972008" y="8278808"/>
            <a:ext cx="2797446" cy="2914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EEEEEE"/>
                </a:solidFill>
                <a:latin typeface="Arial"/>
                <a:ea typeface="Arial"/>
                <a:cs typeface="Arial"/>
                <a:sym typeface="Arial"/>
              </a:rPr>
              <a:t>Entrega proyecto funcional</a:t>
            </a:r>
            <a:endParaRPr/>
          </a:p>
        </p:txBody>
      </p:sp>
      <p:sp>
        <p:nvSpPr>
          <p:cNvPr id="206" name="Google Shape;206;p10"/>
          <p:cNvSpPr txBox="1"/>
          <p:nvPr/>
        </p:nvSpPr>
        <p:spPr>
          <a:xfrm>
            <a:off x="13886157" y="9182684"/>
            <a:ext cx="2797446" cy="2914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EEEEEE"/>
                </a:solidFill>
                <a:latin typeface="Arial"/>
                <a:ea typeface="Arial"/>
                <a:cs typeface="Arial"/>
                <a:sym typeface="Arial"/>
              </a:rPr>
              <a:t>Informe y exposición</a:t>
            </a:r>
            <a:endParaRPr/>
          </a:p>
        </p:txBody>
      </p:sp>
      <p:sp>
        <p:nvSpPr>
          <p:cNvPr id="207" name="Google Shape;207;p10"/>
          <p:cNvSpPr txBox="1"/>
          <p:nvPr/>
        </p:nvSpPr>
        <p:spPr>
          <a:xfrm>
            <a:off x="930961" y="8250233"/>
            <a:ext cx="2689366" cy="772795"/>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b="0" i="0" lang="en-US" sz="2199" u="none" cap="none" strike="noStrike">
                <a:solidFill>
                  <a:srgbClr val="EEEEEE"/>
                </a:solidFill>
                <a:latin typeface="Arial"/>
                <a:ea typeface="Arial"/>
                <a:cs typeface="Arial"/>
                <a:sym typeface="Arial"/>
              </a:rPr>
              <a:t>Presentacion proyecto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211" name="Shape 211"/>
        <p:cNvGrpSpPr/>
        <p:nvPr/>
      </p:nvGrpSpPr>
      <p:grpSpPr>
        <a:xfrm>
          <a:off x="0" y="0"/>
          <a:ext cx="0" cy="0"/>
          <a:chOff x="0" y="0"/>
          <a:chExt cx="0" cy="0"/>
        </a:xfrm>
      </p:grpSpPr>
      <p:sp>
        <p:nvSpPr>
          <p:cNvPr id="212" name="Google Shape;212;p11"/>
          <p:cNvSpPr/>
          <p:nvPr/>
        </p:nvSpPr>
        <p:spPr>
          <a:xfrm>
            <a:off x="2487504" y="1680092"/>
            <a:ext cx="986966" cy="986966"/>
          </a:xfrm>
          <a:custGeom>
            <a:rect b="b" l="l" r="r" t="t"/>
            <a:pathLst>
              <a:path extrusionOk="0" h="986966" w="986966">
                <a:moveTo>
                  <a:pt x="0" y="0"/>
                </a:moveTo>
                <a:lnTo>
                  <a:pt x="986966" y="0"/>
                </a:lnTo>
                <a:lnTo>
                  <a:pt x="986966" y="986966"/>
                </a:lnTo>
                <a:lnTo>
                  <a:pt x="0" y="986966"/>
                </a:lnTo>
                <a:lnTo>
                  <a:pt x="0" y="0"/>
                </a:lnTo>
                <a:close/>
              </a:path>
            </a:pathLst>
          </a:custGeom>
          <a:blipFill rotWithShape="1">
            <a:blip r:embed="rId3">
              <a:alphaModFix/>
            </a:blip>
            <a:stretch>
              <a:fillRect b="0" l="0" r="0" t="0"/>
            </a:stretch>
          </a:blipFill>
          <a:ln>
            <a:noFill/>
          </a:ln>
        </p:spPr>
      </p:sp>
      <p:grpSp>
        <p:nvGrpSpPr>
          <p:cNvPr id="213" name="Google Shape;213;p11"/>
          <p:cNvGrpSpPr/>
          <p:nvPr/>
        </p:nvGrpSpPr>
        <p:grpSpPr>
          <a:xfrm>
            <a:off x="1428524" y="3295708"/>
            <a:ext cx="9110895" cy="3239493"/>
            <a:chOff x="0" y="76200"/>
            <a:chExt cx="12147860" cy="4319323"/>
          </a:xfrm>
        </p:grpSpPr>
        <p:sp>
          <p:nvSpPr>
            <p:cNvPr id="214" name="Google Shape;214;p11"/>
            <p:cNvSpPr txBox="1"/>
            <p:nvPr/>
          </p:nvSpPr>
          <p:spPr>
            <a:xfrm>
              <a:off x="0" y="76200"/>
              <a:ext cx="10695944" cy="2428671"/>
            </a:xfrm>
            <a:prstGeom prst="rect">
              <a:avLst/>
            </a:prstGeom>
            <a:noFill/>
            <a:ln>
              <a:noFill/>
            </a:ln>
          </p:spPr>
          <p:txBody>
            <a:bodyPr anchorCtr="0" anchor="t" bIns="0" lIns="0" spcFirstLastPara="1" rIns="0" wrap="square" tIns="0">
              <a:spAutoFit/>
            </a:bodyPr>
            <a:lstStyle/>
            <a:p>
              <a:pPr indent="0" lvl="0" marL="0" marR="0" rtl="0" algn="l">
                <a:lnSpc>
                  <a:spcPct val="105994"/>
                </a:lnSpc>
                <a:spcBef>
                  <a:spcPts val="0"/>
                </a:spcBef>
                <a:spcAft>
                  <a:spcPts val="0"/>
                </a:spcAft>
                <a:buNone/>
              </a:pPr>
              <a:r>
                <a:rPr b="1" i="0" lang="en-US" sz="6556" u="none" cap="none" strike="noStrike">
                  <a:solidFill>
                    <a:srgbClr val="FFFFFF"/>
                  </a:solidFill>
                  <a:latin typeface="Arial"/>
                  <a:ea typeface="Arial"/>
                  <a:cs typeface="Arial"/>
                  <a:sym typeface="Arial"/>
                </a:rPr>
                <a:t>ARQUITECTURA DEL SOFTWARE</a:t>
              </a:r>
              <a:endParaRPr/>
            </a:p>
          </p:txBody>
        </p:sp>
        <p:sp>
          <p:nvSpPr>
            <p:cNvPr id="215" name="Google Shape;215;p11"/>
            <p:cNvSpPr txBox="1"/>
            <p:nvPr/>
          </p:nvSpPr>
          <p:spPr>
            <a:xfrm>
              <a:off x="0" y="3978243"/>
              <a:ext cx="12147860" cy="417280"/>
            </a:xfrm>
            <a:prstGeom prst="rect">
              <a:avLst/>
            </a:prstGeom>
            <a:noFill/>
            <a:ln>
              <a:noFill/>
            </a:ln>
          </p:spPr>
          <p:txBody>
            <a:bodyPr anchorCtr="0" anchor="t" bIns="0" lIns="0" spcFirstLastPara="1" rIns="0" wrap="square" tIns="0">
              <a:spAutoFit/>
            </a:bodyPr>
            <a:lstStyle/>
            <a:p>
              <a:pPr indent="0" lvl="0" marL="0" marR="0" rtl="0" algn="l">
                <a:lnSpc>
                  <a:spcPct val="129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6" name="Google Shape;216;p11"/>
          <p:cNvSpPr/>
          <p:nvPr/>
        </p:nvSpPr>
        <p:spPr>
          <a:xfrm>
            <a:off x="12911633" y="8729377"/>
            <a:ext cx="1972672" cy="1057845"/>
          </a:xfrm>
          <a:custGeom>
            <a:rect b="b" l="l" r="r" t="t"/>
            <a:pathLst>
              <a:path extrusionOk="0" h="1057845" w="1972672">
                <a:moveTo>
                  <a:pt x="0" y="0"/>
                </a:moveTo>
                <a:lnTo>
                  <a:pt x="1972671" y="0"/>
                </a:lnTo>
                <a:lnTo>
                  <a:pt x="1972671" y="1057846"/>
                </a:lnTo>
                <a:lnTo>
                  <a:pt x="0" y="1057846"/>
                </a:lnTo>
                <a:lnTo>
                  <a:pt x="0" y="0"/>
                </a:lnTo>
                <a:close/>
              </a:path>
            </a:pathLst>
          </a:custGeom>
          <a:blipFill rotWithShape="1">
            <a:blip r:embed="rId4">
              <a:alphaModFix/>
            </a:blip>
            <a:stretch>
              <a:fillRect b="0" l="0" r="0" t="0"/>
            </a:stretch>
          </a:blipFill>
          <a:ln>
            <a:noFill/>
          </a:ln>
        </p:spPr>
      </p:sp>
      <p:sp>
        <p:nvSpPr>
          <p:cNvPr id="217" name="Google Shape;217;p11"/>
          <p:cNvSpPr/>
          <p:nvPr/>
        </p:nvSpPr>
        <p:spPr>
          <a:xfrm>
            <a:off x="9387058" y="1343465"/>
            <a:ext cx="8594315" cy="5474267"/>
          </a:xfrm>
          <a:custGeom>
            <a:rect b="b" l="l" r="r" t="t"/>
            <a:pathLst>
              <a:path extrusionOk="0" h="5474267" w="8594315">
                <a:moveTo>
                  <a:pt x="0" y="0"/>
                </a:moveTo>
                <a:lnTo>
                  <a:pt x="8594315" y="0"/>
                </a:lnTo>
                <a:lnTo>
                  <a:pt x="8594315" y="5474267"/>
                </a:lnTo>
                <a:lnTo>
                  <a:pt x="0" y="547426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221" name="Shape 221"/>
        <p:cNvGrpSpPr/>
        <p:nvPr/>
      </p:nvGrpSpPr>
      <p:grpSpPr>
        <a:xfrm>
          <a:off x="0" y="0"/>
          <a:ext cx="0" cy="0"/>
          <a:chOff x="0" y="0"/>
          <a:chExt cx="0" cy="0"/>
        </a:xfrm>
      </p:grpSpPr>
      <p:grpSp>
        <p:nvGrpSpPr>
          <p:cNvPr id="222" name="Google Shape;222;p12"/>
          <p:cNvGrpSpPr/>
          <p:nvPr/>
        </p:nvGrpSpPr>
        <p:grpSpPr>
          <a:xfrm>
            <a:off x="2487504" y="1680092"/>
            <a:ext cx="986966" cy="986966"/>
            <a:chOff x="0" y="0"/>
            <a:chExt cx="1315955" cy="1315955"/>
          </a:xfrm>
        </p:grpSpPr>
        <p:sp>
          <p:nvSpPr>
            <p:cNvPr id="223" name="Google Shape;223;p12"/>
            <p:cNvSpPr/>
            <p:nvPr/>
          </p:nvSpPr>
          <p:spPr>
            <a:xfrm>
              <a:off x="0" y="0"/>
              <a:ext cx="1315955" cy="1315955"/>
            </a:xfrm>
            <a:custGeom>
              <a:rect b="b" l="l" r="r" t="t"/>
              <a:pathLst>
                <a:path extrusionOk="0" h="1315955" w="1315955">
                  <a:moveTo>
                    <a:pt x="0" y="0"/>
                  </a:moveTo>
                  <a:lnTo>
                    <a:pt x="1315955" y="0"/>
                  </a:lnTo>
                  <a:lnTo>
                    <a:pt x="1315955" y="1315955"/>
                  </a:lnTo>
                  <a:lnTo>
                    <a:pt x="0" y="1315955"/>
                  </a:lnTo>
                  <a:lnTo>
                    <a:pt x="0" y="0"/>
                  </a:lnTo>
                  <a:close/>
                </a:path>
              </a:pathLst>
            </a:custGeom>
            <a:blipFill rotWithShape="1">
              <a:blip r:embed="rId3">
                <a:alphaModFix/>
              </a:blip>
              <a:stretch>
                <a:fillRect b="0" l="0" r="0" t="0"/>
              </a:stretch>
            </a:blipFill>
            <a:ln>
              <a:noFill/>
            </a:ln>
          </p:spPr>
        </p:sp>
        <p:sp>
          <p:nvSpPr>
            <p:cNvPr id="224" name="Google Shape;224;p12"/>
            <p:cNvSpPr txBox="1"/>
            <p:nvPr/>
          </p:nvSpPr>
          <p:spPr>
            <a:xfrm>
              <a:off x="343568" y="352511"/>
              <a:ext cx="656526" cy="621326"/>
            </a:xfrm>
            <a:prstGeom prst="rect">
              <a:avLst/>
            </a:prstGeom>
            <a:noFill/>
            <a:ln>
              <a:noFill/>
            </a:ln>
          </p:spPr>
          <p:txBody>
            <a:bodyPr anchorCtr="0" anchor="t" bIns="0" lIns="0" spcFirstLastPara="1" rIns="0" wrap="square" tIns="0">
              <a:spAutoFit/>
            </a:bodyPr>
            <a:lstStyle/>
            <a:p>
              <a:pPr indent="0" lvl="0" marL="0" marR="0" rtl="0" algn="ctr">
                <a:lnSpc>
                  <a:spcPct val="105990"/>
                </a:lnSpc>
                <a:spcBef>
                  <a:spcPts val="0"/>
                </a:spcBef>
                <a:spcAft>
                  <a:spcPts val="0"/>
                </a:spcAft>
                <a:buNone/>
              </a:pPr>
              <a:r>
                <a:rPr b="1" i="0" lang="en-US" sz="3272" u="none" cap="none" strike="noStrike">
                  <a:solidFill>
                    <a:srgbClr val="FFFFFF"/>
                  </a:solidFill>
                  <a:latin typeface="Arial"/>
                  <a:ea typeface="Arial"/>
                  <a:cs typeface="Arial"/>
                  <a:sym typeface="Arial"/>
                </a:rPr>
                <a:t>4</a:t>
              </a:r>
              <a:endParaRPr/>
            </a:p>
          </p:txBody>
        </p:sp>
      </p:grpSp>
      <p:grpSp>
        <p:nvGrpSpPr>
          <p:cNvPr id="225" name="Google Shape;225;p12"/>
          <p:cNvGrpSpPr/>
          <p:nvPr/>
        </p:nvGrpSpPr>
        <p:grpSpPr>
          <a:xfrm>
            <a:off x="1428524" y="3295708"/>
            <a:ext cx="9110895" cy="3239493"/>
            <a:chOff x="0" y="76200"/>
            <a:chExt cx="12147860" cy="4319323"/>
          </a:xfrm>
        </p:grpSpPr>
        <p:sp>
          <p:nvSpPr>
            <p:cNvPr id="226" name="Google Shape;226;p12"/>
            <p:cNvSpPr txBox="1"/>
            <p:nvPr/>
          </p:nvSpPr>
          <p:spPr>
            <a:xfrm>
              <a:off x="0" y="76200"/>
              <a:ext cx="10695944" cy="2428671"/>
            </a:xfrm>
            <a:prstGeom prst="rect">
              <a:avLst/>
            </a:prstGeom>
            <a:noFill/>
            <a:ln>
              <a:noFill/>
            </a:ln>
          </p:spPr>
          <p:txBody>
            <a:bodyPr anchorCtr="0" anchor="t" bIns="0" lIns="0" spcFirstLastPara="1" rIns="0" wrap="square" tIns="0">
              <a:spAutoFit/>
            </a:bodyPr>
            <a:lstStyle/>
            <a:p>
              <a:pPr indent="0" lvl="0" marL="0" marR="0" rtl="0" algn="l">
                <a:lnSpc>
                  <a:spcPct val="105994"/>
                </a:lnSpc>
                <a:spcBef>
                  <a:spcPts val="0"/>
                </a:spcBef>
                <a:spcAft>
                  <a:spcPts val="0"/>
                </a:spcAft>
                <a:buNone/>
              </a:pPr>
              <a:r>
                <a:rPr b="1" i="0" lang="en-US" sz="6556" u="none" cap="none" strike="noStrike">
                  <a:solidFill>
                    <a:srgbClr val="FFFFFF"/>
                  </a:solidFill>
                  <a:latin typeface="Arial"/>
                  <a:ea typeface="Arial"/>
                  <a:cs typeface="Arial"/>
                  <a:sym typeface="Arial"/>
                </a:rPr>
                <a:t>MODELO DE DATOS</a:t>
              </a:r>
              <a:endParaRPr/>
            </a:p>
          </p:txBody>
        </p:sp>
        <p:sp>
          <p:nvSpPr>
            <p:cNvPr id="227" name="Google Shape;227;p12"/>
            <p:cNvSpPr txBox="1"/>
            <p:nvPr/>
          </p:nvSpPr>
          <p:spPr>
            <a:xfrm>
              <a:off x="0" y="3978243"/>
              <a:ext cx="12147860" cy="417280"/>
            </a:xfrm>
            <a:prstGeom prst="rect">
              <a:avLst/>
            </a:prstGeom>
            <a:noFill/>
            <a:ln>
              <a:noFill/>
            </a:ln>
          </p:spPr>
          <p:txBody>
            <a:bodyPr anchorCtr="0" anchor="t" bIns="0" lIns="0" spcFirstLastPara="1" rIns="0" wrap="square" tIns="0">
              <a:spAutoFit/>
            </a:bodyPr>
            <a:lstStyle/>
            <a:p>
              <a:pPr indent="0" lvl="0" marL="0" marR="0" rtl="0" algn="l">
                <a:lnSpc>
                  <a:spcPct val="129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8" name="Google Shape;228;p12"/>
          <p:cNvSpPr/>
          <p:nvPr/>
        </p:nvSpPr>
        <p:spPr>
          <a:xfrm>
            <a:off x="12911633" y="8729377"/>
            <a:ext cx="1972672" cy="1057845"/>
          </a:xfrm>
          <a:custGeom>
            <a:rect b="b" l="l" r="r" t="t"/>
            <a:pathLst>
              <a:path extrusionOk="0" h="1057845" w="1972672">
                <a:moveTo>
                  <a:pt x="0" y="0"/>
                </a:moveTo>
                <a:lnTo>
                  <a:pt x="1972671" y="0"/>
                </a:lnTo>
                <a:lnTo>
                  <a:pt x="1972671" y="1057846"/>
                </a:lnTo>
                <a:lnTo>
                  <a:pt x="0" y="1057846"/>
                </a:lnTo>
                <a:lnTo>
                  <a:pt x="0" y="0"/>
                </a:lnTo>
                <a:close/>
              </a:path>
            </a:pathLst>
          </a:custGeom>
          <a:blipFill rotWithShape="1">
            <a:blip r:embed="rId4">
              <a:alphaModFix/>
            </a:blip>
            <a:stretch>
              <a:fillRect b="0" l="0" r="0" t="0"/>
            </a:stretch>
          </a:blipFill>
          <a:ln>
            <a:noFill/>
          </a:ln>
        </p:spPr>
      </p:sp>
      <p:sp>
        <p:nvSpPr>
          <p:cNvPr id="229" name="Google Shape;229;p12"/>
          <p:cNvSpPr/>
          <p:nvPr/>
        </p:nvSpPr>
        <p:spPr>
          <a:xfrm>
            <a:off x="9925902" y="701060"/>
            <a:ext cx="7333398" cy="7397952"/>
          </a:xfrm>
          <a:custGeom>
            <a:rect b="b" l="l" r="r" t="t"/>
            <a:pathLst>
              <a:path extrusionOk="0" h="7397952" w="7333398">
                <a:moveTo>
                  <a:pt x="0" y="0"/>
                </a:moveTo>
                <a:lnTo>
                  <a:pt x="7333398" y="0"/>
                </a:lnTo>
                <a:lnTo>
                  <a:pt x="7333398" y="7397952"/>
                </a:lnTo>
                <a:lnTo>
                  <a:pt x="0" y="739795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233" name="Shape 233"/>
        <p:cNvGrpSpPr/>
        <p:nvPr/>
      </p:nvGrpSpPr>
      <p:grpSpPr>
        <a:xfrm>
          <a:off x="0" y="0"/>
          <a:ext cx="0" cy="0"/>
          <a:chOff x="0" y="0"/>
          <a:chExt cx="0" cy="0"/>
        </a:xfrm>
      </p:grpSpPr>
      <p:grpSp>
        <p:nvGrpSpPr>
          <p:cNvPr id="234" name="Google Shape;234;p13"/>
          <p:cNvGrpSpPr/>
          <p:nvPr/>
        </p:nvGrpSpPr>
        <p:grpSpPr>
          <a:xfrm>
            <a:off x="2487504" y="1680092"/>
            <a:ext cx="986966" cy="986966"/>
            <a:chOff x="0" y="0"/>
            <a:chExt cx="1315955" cy="1315955"/>
          </a:xfrm>
        </p:grpSpPr>
        <p:sp>
          <p:nvSpPr>
            <p:cNvPr id="235" name="Google Shape;235;p13"/>
            <p:cNvSpPr/>
            <p:nvPr/>
          </p:nvSpPr>
          <p:spPr>
            <a:xfrm>
              <a:off x="0" y="0"/>
              <a:ext cx="1315955" cy="1315955"/>
            </a:xfrm>
            <a:custGeom>
              <a:rect b="b" l="l" r="r" t="t"/>
              <a:pathLst>
                <a:path extrusionOk="0" h="1315955" w="1315955">
                  <a:moveTo>
                    <a:pt x="0" y="0"/>
                  </a:moveTo>
                  <a:lnTo>
                    <a:pt x="1315955" y="0"/>
                  </a:lnTo>
                  <a:lnTo>
                    <a:pt x="1315955" y="1315955"/>
                  </a:lnTo>
                  <a:lnTo>
                    <a:pt x="0" y="1315955"/>
                  </a:lnTo>
                  <a:lnTo>
                    <a:pt x="0" y="0"/>
                  </a:lnTo>
                  <a:close/>
                </a:path>
              </a:pathLst>
            </a:custGeom>
            <a:blipFill rotWithShape="1">
              <a:blip r:embed="rId3">
                <a:alphaModFix/>
              </a:blip>
              <a:stretch>
                <a:fillRect b="0" l="0" r="0" t="0"/>
              </a:stretch>
            </a:blipFill>
            <a:ln>
              <a:noFill/>
            </a:ln>
          </p:spPr>
        </p:sp>
        <p:sp>
          <p:nvSpPr>
            <p:cNvPr id="236" name="Google Shape;236;p13"/>
            <p:cNvSpPr txBox="1"/>
            <p:nvPr/>
          </p:nvSpPr>
          <p:spPr>
            <a:xfrm>
              <a:off x="343568" y="352511"/>
              <a:ext cx="656526" cy="621326"/>
            </a:xfrm>
            <a:prstGeom prst="rect">
              <a:avLst/>
            </a:prstGeom>
            <a:noFill/>
            <a:ln>
              <a:noFill/>
            </a:ln>
          </p:spPr>
          <p:txBody>
            <a:bodyPr anchorCtr="0" anchor="t" bIns="0" lIns="0" spcFirstLastPara="1" rIns="0" wrap="square" tIns="0">
              <a:spAutoFit/>
            </a:bodyPr>
            <a:lstStyle/>
            <a:p>
              <a:pPr indent="0" lvl="0" marL="0" marR="0" rtl="0" algn="ctr">
                <a:lnSpc>
                  <a:spcPct val="105990"/>
                </a:lnSpc>
                <a:spcBef>
                  <a:spcPts val="0"/>
                </a:spcBef>
                <a:spcAft>
                  <a:spcPts val="0"/>
                </a:spcAft>
                <a:buNone/>
              </a:pPr>
              <a:r>
                <a:rPr b="1" i="0" lang="en-US" sz="3272" u="none" cap="none" strike="noStrike">
                  <a:solidFill>
                    <a:srgbClr val="FFFFFF"/>
                  </a:solidFill>
                  <a:latin typeface="Arial"/>
                  <a:ea typeface="Arial"/>
                  <a:cs typeface="Arial"/>
                  <a:sym typeface="Arial"/>
                </a:rPr>
                <a:t>4</a:t>
              </a:r>
              <a:endParaRPr/>
            </a:p>
          </p:txBody>
        </p:sp>
      </p:grpSp>
      <p:grpSp>
        <p:nvGrpSpPr>
          <p:cNvPr id="237" name="Google Shape;237;p13"/>
          <p:cNvGrpSpPr/>
          <p:nvPr/>
        </p:nvGrpSpPr>
        <p:grpSpPr>
          <a:xfrm>
            <a:off x="1428524" y="3295708"/>
            <a:ext cx="9110895" cy="3239493"/>
            <a:chOff x="0" y="76200"/>
            <a:chExt cx="12147860" cy="4319323"/>
          </a:xfrm>
        </p:grpSpPr>
        <p:sp>
          <p:nvSpPr>
            <p:cNvPr id="238" name="Google Shape;238;p13"/>
            <p:cNvSpPr txBox="1"/>
            <p:nvPr/>
          </p:nvSpPr>
          <p:spPr>
            <a:xfrm>
              <a:off x="0" y="76200"/>
              <a:ext cx="10695944" cy="2428671"/>
            </a:xfrm>
            <a:prstGeom prst="rect">
              <a:avLst/>
            </a:prstGeom>
            <a:noFill/>
            <a:ln>
              <a:noFill/>
            </a:ln>
          </p:spPr>
          <p:txBody>
            <a:bodyPr anchorCtr="0" anchor="t" bIns="0" lIns="0" spcFirstLastPara="1" rIns="0" wrap="square" tIns="0">
              <a:spAutoFit/>
            </a:bodyPr>
            <a:lstStyle/>
            <a:p>
              <a:pPr indent="0" lvl="0" marL="0" marR="0" rtl="0" algn="l">
                <a:lnSpc>
                  <a:spcPct val="105994"/>
                </a:lnSpc>
                <a:spcBef>
                  <a:spcPts val="0"/>
                </a:spcBef>
                <a:spcAft>
                  <a:spcPts val="0"/>
                </a:spcAft>
                <a:buNone/>
              </a:pPr>
              <a:r>
                <a:rPr b="1" i="0" lang="en-US" sz="6556" u="none" cap="none" strike="noStrike">
                  <a:solidFill>
                    <a:srgbClr val="FFFFFF"/>
                  </a:solidFill>
                  <a:latin typeface="Arial"/>
                  <a:ea typeface="Arial"/>
                  <a:cs typeface="Arial"/>
                  <a:sym typeface="Arial"/>
                </a:rPr>
                <a:t>TECNOLOGÍAS UTILIZADAS</a:t>
              </a:r>
              <a:endParaRPr/>
            </a:p>
          </p:txBody>
        </p:sp>
        <p:sp>
          <p:nvSpPr>
            <p:cNvPr id="239" name="Google Shape;239;p13"/>
            <p:cNvSpPr txBox="1"/>
            <p:nvPr/>
          </p:nvSpPr>
          <p:spPr>
            <a:xfrm>
              <a:off x="0" y="3978243"/>
              <a:ext cx="12147860" cy="417280"/>
            </a:xfrm>
            <a:prstGeom prst="rect">
              <a:avLst/>
            </a:prstGeom>
            <a:noFill/>
            <a:ln>
              <a:noFill/>
            </a:ln>
          </p:spPr>
          <p:txBody>
            <a:bodyPr anchorCtr="0" anchor="t" bIns="0" lIns="0" spcFirstLastPara="1" rIns="0" wrap="square" tIns="0">
              <a:spAutoFit/>
            </a:bodyPr>
            <a:lstStyle/>
            <a:p>
              <a:pPr indent="0" lvl="0" marL="0" marR="0" rtl="0" algn="l">
                <a:lnSpc>
                  <a:spcPct val="129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0" name="Google Shape;240;p13"/>
          <p:cNvSpPr/>
          <p:nvPr/>
        </p:nvSpPr>
        <p:spPr>
          <a:xfrm>
            <a:off x="12911633" y="8729377"/>
            <a:ext cx="1972672" cy="1057845"/>
          </a:xfrm>
          <a:custGeom>
            <a:rect b="b" l="l" r="r" t="t"/>
            <a:pathLst>
              <a:path extrusionOk="0" h="1057845" w="1972672">
                <a:moveTo>
                  <a:pt x="0" y="0"/>
                </a:moveTo>
                <a:lnTo>
                  <a:pt x="1972671" y="0"/>
                </a:lnTo>
                <a:lnTo>
                  <a:pt x="1972671" y="1057846"/>
                </a:lnTo>
                <a:lnTo>
                  <a:pt x="0" y="1057846"/>
                </a:lnTo>
                <a:lnTo>
                  <a:pt x="0" y="0"/>
                </a:lnTo>
                <a:close/>
              </a:path>
            </a:pathLst>
          </a:custGeom>
          <a:blipFill rotWithShape="1">
            <a:blip r:embed="rId4">
              <a:alphaModFix/>
            </a:blip>
            <a:stretch>
              <a:fillRect b="0" l="0" r="0" t="0"/>
            </a:stretch>
          </a:blipFill>
          <a:ln>
            <a:noFill/>
          </a:ln>
        </p:spPr>
      </p:sp>
      <p:sp>
        <p:nvSpPr>
          <p:cNvPr id="241" name="Google Shape;241;p13"/>
          <p:cNvSpPr/>
          <p:nvPr/>
        </p:nvSpPr>
        <p:spPr>
          <a:xfrm>
            <a:off x="8494727" y="2667058"/>
            <a:ext cx="3101171" cy="1744408"/>
          </a:xfrm>
          <a:custGeom>
            <a:rect b="b" l="l" r="r" t="t"/>
            <a:pathLst>
              <a:path extrusionOk="0" h="1744408" w="3101171">
                <a:moveTo>
                  <a:pt x="0" y="0"/>
                </a:moveTo>
                <a:lnTo>
                  <a:pt x="3101170" y="0"/>
                </a:lnTo>
                <a:lnTo>
                  <a:pt x="3101170" y="1744408"/>
                </a:lnTo>
                <a:lnTo>
                  <a:pt x="0" y="1744408"/>
                </a:lnTo>
                <a:lnTo>
                  <a:pt x="0" y="0"/>
                </a:lnTo>
                <a:close/>
              </a:path>
            </a:pathLst>
          </a:custGeom>
          <a:blipFill rotWithShape="1">
            <a:blip r:embed="rId5">
              <a:alphaModFix/>
            </a:blip>
            <a:stretch>
              <a:fillRect b="0" l="0" r="0" t="0"/>
            </a:stretch>
          </a:blipFill>
          <a:ln>
            <a:noFill/>
          </a:ln>
        </p:spPr>
      </p:sp>
      <p:sp>
        <p:nvSpPr>
          <p:cNvPr id="242" name="Google Shape;242;p13"/>
          <p:cNvSpPr/>
          <p:nvPr/>
        </p:nvSpPr>
        <p:spPr>
          <a:xfrm>
            <a:off x="12148594" y="2173575"/>
            <a:ext cx="2191635" cy="2191635"/>
          </a:xfrm>
          <a:custGeom>
            <a:rect b="b" l="l" r="r" t="t"/>
            <a:pathLst>
              <a:path extrusionOk="0" h="2191635" w="2191635">
                <a:moveTo>
                  <a:pt x="0" y="0"/>
                </a:moveTo>
                <a:lnTo>
                  <a:pt x="2191636" y="0"/>
                </a:lnTo>
                <a:lnTo>
                  <a:pt x="2191636" y="2191635"/>
                </a:lnTo>
                <a:lnTo>
                  <a:pt x="0" y="2191635"/>
                </a:lnTo>
                <a:lnTo>
                  <a:pt x="0" y="0"/>
                </a:lnTo>
                <a:close/>
              </a:path>
            </a:pathLst>
          </a:custGeom>
          <a:blipFill rotWithShape="1">
            <a:blip r:embed="rId6">
              <a:alphaModFix/>
            </a:blip>
            <a:stretch>
              <a:fillRect b="0" l="0" r="0" t="0"/>
            </a:stretch>
          </a:blipFill>
          <a:ln>
            <a:noFill/>
          </a:ln>
        </p:spPr>
      </p:sp>
      <p:sp>
        <p:nvSpPr>
          <p:cNvPr id="243" name="Google Shape;243;p13"/>
          <p:cNvSpPr/>
          <p:nvPr/>
        </p:nvSpPr>
        <p:spPr>
          <a:xfrm>
            <a:off x="9144000" y="5715379"/>
            <a:ext cx="1802624" cy="1802624"/>
          </a:xfrm>
          <a:custGeom>
            <a:rect b="b" l="l" r="r" t="t"/>
            <a:pathLst>
              <a:path extrusionOk="0" h="1802624" w="1802624">
                <a:moveTo>
                  <a:pt x="0" y="0"/>
                </a:moveTo>
                <a:lnTo>
                  <a:pt x="1802624" y="0"/>
                </a:lnTo>
                <a:lnTo>
                  <a:pt x="1802624" y="1802624"/>
                </a:lnTo>
                <a:lnTo>
                  <a:pt x="0" y="1802624"/>
                </a:lnTo>
                <a:lnTo>
                  <a:pt x="0" y="0"/>
                </a:lnTo>
                <a:close/>
              </a:path>
            </a:pathLst>
          </a:custGeom>
          <a:blipFill rotWithShape="1">
            <a:blip r:embed="rId7">
              <a:alphaModFix/>
            </a:blip>
            <a:stretch>
              <a:fillRect b="0" l="0" r="0" t="0"/>
            </a:stretch>
          </a:blipFill>
          <a:ln>
            <a:noFill/>
          </a:ln>
        </p:spPr>
      </p:sp>
      <p:sp>
        <p:nvSpPr>
          <p:cNvPr id="244" name="Google Shape;244;p13"/>
          <p:cNvSpPr/>
          <p:nvPr/>
        </p:nvSpPr>
        <p:spPr>
          <a:xfrm>
            <a:off x="11406438" y="4823060"/>
            <a:ext cx="3486489" cy="3486489"/>
          </a:xfrm>
          <a:custGeom>
            <a:rect b="b" l="l" r="r" t="t"/>
            <a:pathLst>
              <a:path extrusionOk="0" h="3486489" w="3486489">
                <a:moveTo>
                  <a:pt x="0" y="0"/>
                </a:moveTo>
                <a:lnTo>
                  <a:pt x="3486489" y="0"/>
                </a:lnTo>
                <a:lnTo>
                  <a:pt x="3486489" y="3486489"/>
                </a:lnTo>
                <a:lnTo>
                  <a:pt x="0" y="3486489"/>
                </a:lnTo>
                <a:lnTo>
                  <a:pt x="0" y="0"/>
                </a:lnTo>
                <a:close/>
              </a:path>
            </a:pathLst>
          </a:custGeom>
          <a:blipFill rotWithShape="1">
            <a:blip r:embed="rId8">
              <a:alphaModFix/>
            </a:blip>
            <a:stretch>
              <a:fillRect b="0" l="0" r="0" t="0"/>
            </a:stretch>
          </a:blipFill>
          <a:ln>
            <a:noFill/>
          </a:ln>
        </p:spPr>
      </p:sp>
      <p:sp>
        <p:nvSpPr>
          <p:cNvPr id="245" name="Google Shape;245;p13"/>
          <p:cNvSpPr/>
          <p:nvPr/>
        </p:nvSpPr>
        <p:spPr>
          <a:xfrm>
            <a:off x="15334077" y="5903044"/>
            <a:ext cx="2423955" cy="1614960"/>
          </a:xfrm>
          <a:custGeom>
            <a:rect b="b" l="l" r="r" t="t"/>
            <a:pathLst>
              <a:path extrusionOk="0" h="1614960" w="2423955">
                <a:moveTo>
                  <a:pt x="0" y="0"/>
                </a:moveTo>
                <a:lnTo>
                  <a:pt x="2423955" y="0"/>
                </a:lnTo>
                <a:lnTo>
                  <a:pt x="2423955" y="1614959"/>
                </a:lnTo>
                <a:lnTo>
                  <a:pt x="0" y="1614959"/>
                </a:lnTo>
                <a:lnTo>
                  <a:pt x="0" y="0"/>
                </a:lnTo>
                <a:close/>
              </a:path>
            </a:pathLst>
          </a:custGeom>
          <a:blipFill rotWithShape="1">
            <a:blip r:embed="rId9">
              <a:alphaModFix/>
            </a:blip>
            <a:stretch>
              <a:fillRect b="0" l="0" r="0" t="0"/>
            </a:stretch>
          </a:blipFill>
          <a:ln>
            <a:noFill/>
          </a:ln>
        </p:spPr>
      </p:sp>
      <p:pic>
        <p:nvPicPr>
          <p:cNvPr id="246" name="Google Shape;246;p13"/>
          <p:cNvPicPr preferRelativeResize="0"/>
          <p:nvPr/>
        </p:nvPicPr>
        <p:blipFill>
          <a:blip r:embed="rId10">
            <a:alphaModFix/>
          </a:blip>
          <a:stretch>
            <a:fillRect/>
          </a:stretch>
        </p:blipFill>
        <p:spPr>
          <a:xfrm>
            <a:off x="15052412" y="2335875"/>
            <a:ext cx="2987274" cy="18670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250" name="Shape 250"/>
        <p:cNvGrpSpPr/>
        <p:nvPr/>
      </p:nvGrpSpPr>
      <p:grpSpPr>
        <a:xfrm>
          <a:off x="0" y="0"/>
          <a:ext cx="0" cy="0"/>
          <a:chOff x="0" y="0"/>
          <a:chExt cx="0" cy="0"/>
        </a:xfrm>
      </p:grpSpPr>
      <p:grpSp>
        <p:nvGrpSpPr>
          <p:cNvPr id="251" name="Google Shape;251;p14"/>
          <p:cNvGrpSpPr/>
          <p:nvPr/>
        </p:nvGrpSpPr>
        <p:grpSpPr>
          <a:xfrm>
            <a:off x="2487504" y="1680092"/>
            <a:ext cx="986966" cy="986966"/>
            <a:chOff x="0" y="0"/>
            <a:chExt cx="1315955" cy="1315955"/>
          </a:xfrm>
        </p:grpSpPr>
        <p:sp>
          <p:nvSpPr>
            <p:cNvPr id="252" name="Google Shape;252;p14"/>
            <p:cNvSpPr/>
            <p:nvPr/>
          </p:nvSpPr>
          <p:spPr>
            <a:xfrm>
              <a:off x="0" y="0"/>
              <a:ext cx="1315955" cy="1315955"/>
            </a:xfrm>
            <a:custGeom>
              <a:rect b="b" l="l" r="r" t="t"/>
              <a:pathLst>
                <a:path extrusionOk="0" h="1315955" w="1315955">
                  <a:moveTo>
                    <a:pt x="0" y="0"/>
                  </a:moveTo>
                  <a:lnTo>
                    <a:pt x="1315955" y="0"/>
                  </a:lnTo>
                  <a:lnTo>
                    <a:pt x="1315955" y="1315955"/>
                  </a:lnTo>
                  <a:lnTo>
                    <a:pt x="0" y="1315955"/>
                  </a:lnTo>
                  <a:lnTo>
                    <a:pt x="0" y="0"/>
                  </a:lnTo>
                  <a:close/>
                </a:path>
              </a:pathLst>
            </a:custGeom>
            <a:blipFill rotWithShape="1">
              <a:blip r:embed="rId3">
                <a:alphaModFix/>
              </a:blip>
              <a:stretch>
                <a:fillRect b="0" l="0" r="0" t="0"/>
              </a:stretch>
            </a:blipFill>
            <a:ln>
              <a:noFill/>
            </a:ln>
          </p:spPr>
        </p:sp>
        <p:sp>
          <p:nvSpPr>
            <p:cNvPr id="253" name="Google Shape;253;p14"/>
            <p:cNvSpPr txBox="1"/>
            <p:nvPr/>
          </p:nvSpPr>
          <p:spPr>
            <a:xfrm>
              <a:off x="343568" y="352511"/>
              <a:ext cx="656526" cy="621326"/>
            </a:xfrm>
            <a:prstGeom prst="rect">
              <a:avLst/>
            </a:prstGeom>
            <a:noFill/>
            <a:ln>
              <a:noFill/>
            </a:ln>
          </p:spPr>
          <p:txBody>
            <a:bodyPr anchorCtr="0" anchor="t" bIns="0" lIns="0" spcFirstLastPara="1" rIns="0" wrap="square" tIns="0">
              <a:spAutoFit/>
            </a:bodyPr>
            <a:lstStyle/>
            <a:p>
              <a:pPr indent="0" lvl="0" marL="0" marR="0" rtl="0" algn="ctr">
                <a:lnSpc>
                  <a:spcPct val="105990"/>
                </a:lnSpc>
                <a:spcBef>
                  <a:spcPts val="0"/>
                </a:spcBef>
                <a:spcAft>
                  <a:spcPts val="0"/>
                </a:spcAft>
                <a:buNone/>
              </a:pPr>
              <a:r>
                <a:rPr b="1" i="0" lang="en-US" sz="3272" u="none" cap="none" strike="noStrike">
                  <a:solidFill>
                    <a:srgbClr val="FFFFFF"/>
                  </a:solidFill>
                  <a:latin typeface="Arial"/>
                  <a:ea typeface="Arial"/>
                  <a:cs typeface="Arial"/>
                  <a:sym typeface="Arial"/>
                </a:rPr>
                <a:t>4</a:t>
              </a:r>
              <a:endParaRPr/>
            </a:p>
          </p:txBody>
        </p:sp>
      </p:grpSp>
      <p:grpSp>
        <p:nvGrpSpPr>
          <p:cNvPr id="254" name="Google Shape;254;p14"/>
          <p:cNvGrpSpPr/>
          <p:nvPr/>
        </p:nvGrpSpPr>
        <p:grpSpPr>
          <a:xfrm>
            <a:off x="1428524" y="3295708"/>
            <a:ext cx="9110895" cy="4120535"/>
            <a:chOff x="0" y="76200"/>
            <a:chExt cx="12147860" cy="5494046"/>
          </a:xfrm>
        </p:grpSpPr>
        <p:sp>
          <p:nvSpPr>
            <p:cNvPr id="255" name="Google Shape;255;p14"/>
            <p:cNvSpPr txBox="1"/>
            <p:nvPr/>
          </p:nvSpPr>
          <p:spPr>
            <a:xfrm>
              <a:off x="0" y="76200"/>
              <a:ext cx="10695944" cy="3603394"/>
            </a:xfrm>
            <a:prstGeom prst="rect">
              <a:avLst/>
            </a:prstGeom>
            <a:noFill/>
            <a:ln>
              <a:noFill/>
            </a:ln>
          </p:spPr>
          <p:txBody>
            <a:bodyPr anchorCtr="0" anchor="t" bIns="0" lIns="0" spcFirstLastPara="1" rIns="0" wrap="square" tIns="0">
              <a:spAutoFit/>
            </a:bodyPr>
            <a:lstStyle/>
            <a:p>
              <a:pPr indent="0" lvl="0" marL="0" marR="0" rtl="0" algn="l">
                <a:lnSpc>
                  <a:spcPct val="105994"/>
                </a:lnSpc>
                <a:spcBef>
                  <a:spcPts val="0"/>
                </a:spcBef>
                <a:spcAft>
                  <a:spcPts val="0"/>
                </a:spcAft>
                <a:buNone/>
              </a:pPr>
              <a:r>
                <a:rPr b="1" i="0" lang="en-US" sz="6556" u="none" cap="none" strike="noStrike">
                  <a:solidFill>
                    <a:srgbClr val="FFFFFF"/>
                  </a:solidFill>
                  <a:latin typeface="Arial"/>
                  <a:ea typeface="Arial"/>
                  <a:cs typeface="Arial"/>
                  <a:sym typeface="Arial"/>
                </a:rPr>
                <a:t>DEMOSTRACIÓN DEL RESULTADO DEL PROYECTO</a:t>
              </a:r>
              <a:endParaRPr/>
            </a:p>
          </p:txBody>
        </p:sp>
        <p:sp>
          <p:nvSpPr>
            <p:cNvPr id="256" name="Google Shape;256;p14"/>
            <p:cNvSpPr txBox="1"/>
            <p:nvPr/>
          </p:nvSpPr>
          <p:spPr>
            <a:xfrm>
              <a:off x="0" y="5152966"/>
              <a:ext cx="12147860" cy="417280"/>
            </a:xfrm>
            <a:prstGeom prst="rect">
              <a:avLst/>
            </a:prstGeom>
            <a:noFill/>
            <a:ln>
              <a:noFill/>
            </a:ln>
          </p:spPr>
          <p:txBody>
            <a:bodyPr anchorCtr="0" anchor="t" bIns="0" lIns="0" spcFirstLastPara="1" rIns="0" wrap="square" tIns="0">
              <a:spAutoFit/>
            </a:bodyPr>
            <a:lstStyle/>
            <a:p>
              <a:pPr indent="0" lvl="0" marL="0" marR="0" rtl="0" algn="l">
                <a:lnSpc>
                  <a:spcPct val="129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7" name="Google Shape;257;p14"/>
          <p:cNvSpPr/>
          <p:nvPr/>
        </p:nvSpPr>
        <p:spPr>
          <a:xfrm>
            <a:off x="12911633" y="8729377"/>
            <a:ext cx="1972672" cy="1057845"/>
          </a:xfrm>
          <a:custGeom>
            <a:rect b="b" l="l" r="r" t="t"/>
            <a:pathLst>
              <a:path extrusionOk="0" h="1057845" w="1972672">
                <a:moveTo>
                  <a:pt x="0" y="0"/>
                </a:moveTo>
                <a:lnTo>
                  <a:pt x="1972671" y="0"/>
                </a:lnTo>
                <a:lnTo>
                  <a:pt x="1972671" y="1057846"/>
                </a:lnTo>
                <a:lnTo>
                  <a:pt x="0" y="1057846"/>
                </a:lnTo>
                <a:lnTo>
                  <a:pt x="0" y="0"/>
                </a:lnTo>
                <a:close/>
              </a:path>
            </a:pathLst>
          </a:custGeom>
          <a:blipFill rotWithShape="1">
            <a:blip r:embed="rId4">
              <a:alphaModFix/>
            </a:blip>
            <a:stretch>
              <a:fillRect b="0" l="0" r="0" t="0"/>
            </a:stretch>
          </a:blipFill>
          <a:ln>
            <a:noFill/>
          </a:ln>
        </p:spPr>
      </p:sp>
      <p:pic>
        <p:nvPicPr>
          <p:cNvPr id="258" name="Google Shape;258;p14" title="FinanTrack.mp4">
            <a:hlinkClick r:id="rId5"/>
          </p:cNvPr>
          <p:cNvPicPr preferRelativeResize="0"/>
          <p:nvPr/>
        </p:nvPicPr>
        <p:blipFill>
          <a:blip r:embed="rId6">
            <a:alphaModFix/>
          </a:blip>
          <a:stretch>
            <a:fillRect/>
          </a:stretch>
        </p:blipFill>
        <p:spPr>
          <a:xfrm>
            <a:off x="8747100" y="2667050"/>
            <a:ext cx="8918774" cy="4718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262" name="Shape 262"/>
        <p:cNvGrpSpPr/>
        <p:nvPr/>
      </p:nvGrpSpPr>
      <p:grpSpPr>
        <a:xfrm>
          <a:off x="0" y="0"/>
          <a:ext cx="0" cy="0"/>
          <a:chOff x="0" y="0"/>
          <a:chExt cx="0" cy="0"/>
        </a:xfrm>
      </p:grpSpPr>
      <p:sp>
        <p:nvSpPr>
          <p:cNvPr id="263" name="Google Shape;263;p15"/>
          <p:cNvSpPr/>
          <p:nvPr/>
        </p:nvSpPr>
        <p:spPr>
          <a:xfrm>
            <a:off x="8723593" y="3431106"/>
            <a:ext cx="490769" cy="490769"/>
          </a:xfrm>
          <a:custGeom>
            <a:rect b="b" l="l" r="r" t="t"/>
            <a:pathLst>
              <a:path extrusionOk="0" h="490769" w="490769">
                <a:moveTo>
                  <a:pt x="0" y="0"/>
                </a:moveTo>
                <a:lnTo>
                  <a:pt x="490768" y="0"/>
                </a:lnTo>
                <a:lnTo>
                  <a:pt x="490768" y="490768"/>
                </a:lnTo>
                <a:lnTo>
                  <a:pt x="0" y="490768"/>
                </a:lnTo>
                <a:lnTo>
                  <a:pt x="0" y="0"/>
                </a:lnTo>
                <a:close/>
              </a:path>
            </a:pathLst>
          </a:custGeom>
          <a:blipFill rotWithShape="1">
            <a:blip r:embed="rId3">
              <a:alphaModFix/>
            </a:blip>
            <a:stretch>
              <a:fillRect b="0" l="0" r="0" t="0"/>
            </a:stretch>
          </a:blipFill>
          <a:ln>
            <a:noFill/>
          </a:ln>
        </p:spPr>
      </p:sp>
      <p:sp>
        <p:nvSpPr>
          <p:cNvPr id="264" name="Google Shape;264;p15"/>
          <p:cNvSpPr txBox="1"/>
          <p:nvPr/>
        </p:nvSpPr>
        <p:spPr>
          <a:xfrm>
            <a:off x="5529719" y="1911642"/>
            <a:ext cx="7228265" cy="1519464"/>
          </a:xfrm>
          <a:prstGeom prst="rect">
            <a:avLst/>
          </a:prstGeom>
          <a:noFill/>
          <a:ln>
            <a:noFill/>
          </a:ln>
        </p:spPr>
        <p:txBody>
          <a:bodyPr anchorCtr="0" anchor="t" bIns="0" lIns="0" spcFirstLastPara="1" rIns="0" wrap="square" tIns="0">
            <a:spAutoFit/>
          </a:bodyPr>
          <a:lstStyle/>
          <a:p>
            <a:pPr indent="0" lvl="0" marL="0" marR="0" rtl="0" algn="ctr">
              <a:lnSpc>
                <a:spcPct val="106006"/>
              </a:lnSpc>
              <a:spcBef>
                <a:spcPts val="0"/>
              </a:spcBef>
              <a:spcAft>
                <a:spcPts val="0"/>
              </a:spcAft>
              <a:buNone/>
            </a:pPr>
            <a:r>
              <a:rPr b="1" i="0" lang="en-US" sz="5511" u="none" cap="none" strike="noStrike">
                <a:solidFill>
                  <a:srgbClr val="FFFFFF"/>
                </a:solidFill>
                <a:latin typeface="Arial"/>
                <a:ea typeface="Arial"/>
                <a:cs typeface="Arial"/>
                <a:sym typeface="Arial"/>
              </a:rPr>
              <a:t>RESULTADOS OBTENIDOS</a:t>
            </a:r>
            <a:endParaRPr/>
          </a:p>
        </p:txBody>
      </p:sp>
      <p:sp>
        <p:nvSpPr>
          <p:cNvPr id="265" name="Google Shape;265;p15"/>
          <p:cNvSpPr/>
          <p:nvPr/>
        </p:nvSpPr>
        <p:spPr>
          <a:xfrm>
            <a:off x="16074831" y="8073831"/>
            <a:ext cx="1184469" cy="1184469"/>
          </a:xfrm>
          <a:custGeom>
            <a:rect b="b" l="l" r="r" t="t"/>
            <a:pathLst>
              <a:path extrusionOk="0" h="1184469" w="1184469">
                <a:moveTo>
                  <a:pt x="0" y="0"/>
                </a:moveTo>
                <a:lnTo>
                  <a:pt x="1184469" y="0"/>
                </a:lnTo>
                <a:lnTo>
                  <a:pt x="1184469" y="1184469"/>
                </a:lnTo>
                <a:lnTo>
                  <a:pt x="0" y="1184469"/>
                </a:lnTo>
                <a:lnTo>
                  <a:pt x="0" y="0"/>
                </a:lnTo>
                <a:close/>
              </a:path>
            </a:pathLst>
          </a:custGeom>
          <a:blipFill rotWithShape="1">
            <a:blip r:embed="rId4">
              <a:alphaModFix/>
            </a:blip>
            <a:stretch>
              <a:fillRect b="0" l="0" r="0" t="0"/>
            </a:stretch>
          </a:blipFill>
          <a:ln>
            <a:noFill/>
          </a:ln>
        </p:spPr>
      </p:sp>
      <p:sp>
        <p:nvSpPr>
          <p:cNvPr id="266" name="Google Shape;266;p15"/>
          <p:cNvSpPr/>
          <p:nvPr/>
        </p:nvSpPr>
        <p:spPr>
          <a:xfrm>
            <a:off x="14149580" y="8375877"/>
            <a:ext cx="1585152" cy="661801"/>
          </a:xfrm>
          <a:custGeom>
            <a:rect b="b" l="l" r="r" t="t"/>
            <a:pathLst>
              <a:path extrusionOk="0" h="661801" w="1585152">
                <a:moveTo>
                  <a:pt x="0" y="0"/>
                </a:moveTo>
                <a:lnTo>
                  <a:pt x="1585152" y="0"/>
                </a:lnTo>
                <a:lnTo>
                  <a:pt x="1585152" y="661801"/>
                </a:lnTo>
                <a:lnTo>
                  <a:pt x="0" y="661801"/>
                </a:lnTo>
                <a:lnTo>
                  <a:pt x="0" y="0"/>
                </a:lnTo>
                <a:close/>
              </a:path>
            </a:pathLst>
          </a:custGeom>
          <a:blipFill rotWithShape="1">
            <a:blip r:embed="rId5">
              <a:alphaModFix/>
            </a:blip>
            <a:stretch>
              <a:fillRect b="0" l="0" r="0" t="0"/>
            </a:stretch>
          </a:blipFill>
          <a:ln>
            <a:noFill/>
          </a:ln>
        </p:spPr>
      </p:sp>
      <p:sp>
        <p:nvSpPr>
          <p:cNvPr id="267" name="Google Shape;267;p15"/>
          <p:cNvSpPr/>
          <p:nvPr/>
        </p:nvSpPr>
        <p:spPr>
          <a:xfrm>
            <a:off x="-2686404" y="2701023"/>
            <a:ext cx="5372809" cy="5372809"/>
          </a:xfrm>
          <a:custGeom>
            <a:rect b="b" l="l" r="r" t="t"/>
            <a:pathLst>
              <a:path extrusionOk="0" h="5372809" w="5372809">
                <a:moveTo>
                  <a:pt x="0" y="0"/>
                </a:moveTo>
                <a:lnTo>
                  <a:pt x="5372808" y="0"/>
                </a:lnTo>
                <a:lnTo>
                  <a:pt x="5372808" y="5372808"/>
                </a:lnTo>
                <a:lnTo>
                  <a:pt x="0" y="5372808"/>
                </a:lnTo>
                <a:lnTo>
                  <a:pt x="0" y="0"/>
                </a:lnTo>
                <a:close/>
              </a:path>
            </a:pathLst>
          </a:custGeom>
          <a:blipFill rotWithShape="1">
            <a:blip r:embed="rId3">
              <a:alphaModFix/>
            </a:blip>
            <a:stretch>
              <a:fillRect b="0" l="0" r="0" t="0"/>
            </a:stretch>
          </a:blipFill>
          <a:ln>
            <a:noFill/>
          </a:ln>
        </p:spPr>
      </p:sp>
      <p:pic>
        <p:nvPicPr>
          <p:cNvPr id="268" name="Google Shape;268;p15"/>
          <p:cNvPicPr preferRelativeResize="0"/>
          <p:nvPr/>
        </p:nvPicPr>
        <p:blipFill>
          <a:blip r:embed="rId6">
            <a:alphaModFix/>
          </a:blip>
          <a:stretch>
            <a:fillRect/>
          </a:stretch>
        </p:blipFill>
        <p:spPr>
          <a:xfrm>
            <a:off x="3375092" y="4074275"/>
            <a:ext cx="11187781" cy="41492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272" name="Shape 272"/>
        <p:cNvGrpSpPr/>
        <p:nvPr/>
      </p:nvGrpSpPr>
      <p:grpSpPr>
        <a:xfrm>
          <a:off x="0" y="0"/>
          <a:ext cx="0" cy="0"/>
          <a:chOff x="0" y="0"/>
          <a:chExt cx="0" cy="0"/>
        </a:xfrm>
      </p:grpSpPr>
      <p:sp>
        <p:nvSpPr>
          <p:cNvPr id="273" name="Google Shape;273;p16"/>
          <p:cNvSpPr/>
          <p:nvPr/>
        </p:nvSpPr>
        <p:spPr>
          <a:xfrm>
            <a:off x="8723593" y="3431106"/>
            <a:ext cx="490769" cy="490769"/>
          </a:xfrm>
          <a:custGeom>
            <a:rect b="b" l="l" r="r" t="t"/>
            <a:pathLst>
              <a:path extrusionOk="0" h="490769" w="490769">
                <a:moveTo>
                  <a:pt x="0" y="0"/>
                </a:moveTo>
                <a:lnTo>
                  <a:pt x="490768" y="0"/>
                </a:lnTo>
                <a:lnTo>
                  <a:pt x="490768" y="490768"/>
                </a:lnTo>
                <a:lnTo>
                  <a:pt x="0" y="490768"/>
                </a:lnTo>
                <a:lnTo>
                  <a:pt x="0" y="0"/>
                </a:lnTo>
                <a:close/>
              </a:path>
            </a:pathLst>
          </a:custGeom>
          <a:blipFill rotWithShape="1">
            <a:blip r:embed="rId3">
              <a:alphaModFix/>
            </a:blip>
            <a:stretch>
              <a:fillRect b="0" l="0" r="0" t="0"/>
            </a:stretch>
          </a:blipFill>
          <a:ln>
            <a:noFill/>
          </a:ln>
        </p:spPr>
      </p:sp>
      <p:sp>
        <p:nvSpPr>
          <p:cNvPr id="274" name="Google Shape;274;p16"/>
          <p:cNvSpPr txBox="1"/>
          <p:nvPr/>
        </p:nvSpPr>
        <p:spPr>
          <a:xfrm>
            <a:off x="2686404" y="1911642"/>
            <a:ext cx="13192324" cy="1519464"/>
          </a:xfrm>
          <a:prstGeom prst="rect">
            <a:avLst/>
          </a:prstGeom>
          <a:noFill/>
          <a:ln>
            <a:noFill/>
          </a:ln>
        </p:spPr>
        <p:txBody>
          <a:bodyPr anchorCtr="0" anchor="t" bIns="0" lIns="0" spcFirstLastPara="1" rIns="0" wrap="square" tIns="0">
            <a:spAutoFit/>
          </a:bodyPr>
          <a:lstStyle/>
          <a:p>
            <a:pPr indent="0" lvl="0" marL="0" marR="0" rtl="0" algn="ctr">
              <a:lnSpc>
                <a:spcPct val="106006"/>
              </a:lnSpc>
              <a:spcBef>
                <a:spcPts val="0"/>
              </a:spcBef>
              <a:spcAft>
                <a:spcPts val="0"/>
              </a:spcAft>
              <a:buNone/>
            </a:pPr>
            <a:r>
              <a:rPr b="1" i="0" lang="en-US" sz="5511" u="none" cap="none" strike="noStrike">
                <a:solidFill>
                  <a:srgbClr val="FFFFFF"/>
                </a:solidFill>
                <a:latin typeface="Arial"/>
                <a:ea typeface="Arial"/>
                <a:cs typeface="Arial"/>
                <a:sym typeface="Arial"/>
              </a:rPr>
              <a:t>OBSTÁCULOS PRESENTADOS DURANTE EL DESARROLLO</a:t>
            </a:r>
            <a:endParaRPr/>
          </a:p>
        </p:txBody>
      </p:sp>
      <p:sp>
        <p:nvSpPr>
          <p:cNvPr id="275" name="Google Shape;275;p16"/>
          <p:cNvSpPr txBox="1"/>
          <p:nvPr/>
        </p:nvSpPr>
        <p:spPr>
          <a:xfrm>
            <a:off x="4573825" y="4089326"/>
            <a:ext cx="9417600" cy="6749700"/>
          </a:xfrm>
          <a:prstGeom prst="rect">
            <a:avLst/>
          </a:prstGeom>
          <a:noFill/>
          <a:ln>
            <a:noFill/>
          </a:ln>
        </p:spPr>
        <p:txBody>
          <a:bodyPr anchorCtr="0" anchor="t" bIns="0" lIns="0" spcFirstLastPara="1" rIns="0" wrap="square" tIns="0">
            <a:spAutoFit/>
          </a:bodyPr>
          <a:lstStyle/>
          <a:p>
            <a:pPr indent="0" lvl="0" marL="0" marR="0" rtl="0" algn="ctr">
              <a:lnSpc>
                <a:spcPct val="143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 Ambos integrantes compatibilizamos trabajo y estudios, lo que redujo la disponibilidad para avanzar de forma constante y coordinada.</a:t>
            </a:r>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Falta de instancias presenciales:</a:t>
            </a:r>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 El trabajo en equipo se realizó </a:t>
            </a:r>
            <a:r>
              <a:rPr lang="en-US" sz="2442">
                <a:solidFill>
                  <a:srgbClr val="FFFFFF"/>
                </a:solidFill>
              </a:rPr>
              <a:t>90</a:t>
            </a:r>
            <a:r>
              <a:rPr b="0" i="0" lang="en-US" sz="2442" u="none" cap="none" strike="noStrike">
                <a:solidFill>
                  <a:srgbClr val="FFFFFF"/>
                </a:solidFill>
                <a:latin typeface="Arial"/>
                <a:ea typeface="Arial"/>
                <a:cs typeface="Arial"/>
                <a:sym typeface="Arial"/>
              </a:rPr>
              <a:t>% de manera remota, lo que </a:t>
            </a:r>
            <a:r>
              <a:rPr lang="en-US" sz="2442">
                <a:solidFill>
                  <a:srgbClr val="FFFFFF"/>
                </a:solidFill>
              </a:rPr>
              <a:t>dificulta</a:t>
            </a:r>
            <a:r>
              <a:rPr b="0" i="0" lang="en-US" sz="2442" u="none" cap="none" strike="noStrike">
                <a:solidFill>
                  <a:srgbClr val="FFFFFF"/>
                </a:solidFill>
                <a:latin typeface="Arial"/>
                <a:ea typeface="Arial"/>
                <a:cs typeface="Arial"/>
                <a:sym typeface="Arial"/>
              </a:rPr>
              <a:t> la colaboración fluida y la toma de decisiones rápidas.</a:t>
            </a:r>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Coordinación de tareas:</a:t>
            </a:r>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 Organizar el avance conjunto implicó una planificación más rigurosa, especialmente en las etapas críticas de desarrollo y pruebas.</a:t>
            </a:r>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Aprendizaje paralelo de herramientas:</a:t>
            </a:r>
            <a:endParaRPr/>
          </a:p>
          <a:p>
            <a:pPr indent="-263639" lvl="1" marL="527281" marR="0" rtl="0" algn="ctr">
              <a:lnSpc>
                <a:spcPct val="105978"/>
              </a:lnSpc>
              <a:spcBef>
                <a:spcPts val="0"/>
              </a:spcBef>
              <a:spcAft>
                <a:spcPts val="0"/>
              </a:spcAft>
              <a:buClr>
                <a:srgbClr val="FFFFFF"/>
              </a:buClr>
              <a:buSzPts val="2442"/>
              <a:buFont typeface="Arial"/>
              <a:buChar char="•"/>
            </a:pPr>
            <a:r>
              <a:rPr b="0" i="0" lang="en-US" sz="2442" u="none" cap="none" strike="noStrike">
                <a:solidFill>
                  <a:srgbClr val="FFFFFF"/>
                </a:solidFill>
                <a:latin typeface="Arial"/>
                <a:ea typeface="Arial"/>
                <a:cs typeface="Arial"/>
                <a:sym typeface="Arial"/>
              </a:rPr>
              <a:t> Al utilizar tecnologías nuevas como Django o bases de datos en SQLite, parte del tiempo se dedicó a la investigación y capacitación autodidacta.</a:t>
            </a:r>
            <a:endParaRPr/>
          </a:p>
          <a:p>
            <a:pPr indent="-108572" lvl="1" marL="527281" marR="0" rtl="0" algn="ctr">
              <a:lnSpc>
                <a:spcPct val="105978"/>
              </a:lnSpc>
              <a:spcBef>
                <a:spcPts val="0"/>
              </a:spcBef>
              <a:spcAft>
                <a:spcPts val="0"/>
              </a:spcAft>
              <a:buClr>
                <a:schemeClr val="dk1"/>
              </a:buClr>
              <a:buSzPts val="2442"/>
              <a:buFont typeface="Arial"/>
              <a:buNone/>
            </a:pPr>
            <a:r>
              <a:t/>
            </a:r>
            <a:endParaRPr b="0" i="0" sz="2442" u="none" cap="none" strike="noStrike">
              <a:solidFill>
                <a:srgbClr val="FFFFFF"/>
              </a:solidFill>
              <a:latin typeface="Arial"/>
              <a:ea typeface="Arial"/>
              <a:cs typeface="Arial"/>
              <a:sym typeface="Arial"/>
            </a:endParaRPr>
          </a:p>
          <a:p>
            <a:pPr indent="0" lvl="0" marL="0" marR="0" rtl="0" algn="ctr">
              <a:lnSpc>
                <a:spcPct val="105978"/>
              </a:lnSpc>
              <a:spcBef>
                <a:spcPts val="0"/>
              </a:spcBef>
              <a:spcAft>
                <a:spcPts val="0"/>
              </a:spcAft>
              <a:buNone/>
            </a:pPr>
            <a:r>
              <a:t/>
            </a:r>
            <a:endParaRPr b="0" i="0" sz="2442" u="none" cap="none" strike="noStrike">
              <a:solidFill>
                <a:srgbClr val="FFFFFF"/>
              </a:solidFill>
              <a:latin typeface="Arial"/>
              <a:ea typeface="Arial"/>
              <a:cs typeface="Arial"/>
              <a:sym typeface="Arial"/>
            </a:endParaRPr>
          </a:p>
        </p:txBody>
      </p:sp>
      <p:sp>
        <p:nvSpPr>
          <p:cNvPr id="276" name="Google Shape;276;p16"/>
          <p:cNvSpPr/>
          <p:nvPr/>
        </p:nvSpPr>
        <p:spPr>
          <a:xfrm>
            <a:off x="16074831" y="8073831"/>
            <a:ext cx="1184469" cy="1184469"/>
          </a:xfrm>
          <a:custGeom>
            <a:rect b="b" l="l" r="r" t="t"/>
            <a:pathLst>
              <a:path extrusionOk="0" h="1184469" w="1184469">
                <a:moveTo>
                  <a:pt x="0" y="0"/>
                </a:moveTo>
                <a:lnTo>
                  <a:pt x="1184469" y="0"/>
                </a:lnTo>
                <a:lnTo>
                  <a:pt x="1184469" y="1184469"/>
                </a:lnTo>
                <a:lnTo>
                  <a:pt x="0" y="1184469"/>
                </a:lnTo>
                <a:lnTo>
                  <a:pt x="0" y="0"/>
                </a:lnTo>
                <a:close/>
              </a:path>
            </a:pathLst>
          </a:custGeom>
          <a:blipFill rotWithShape="1">
            <a:blip r:embed="rId4">
              <a:alphaModFix/>
            </a:blip>
            <a:stretch>
              <a:fillRect b="0" l="0" r="0" t="0"/>
            </a:stretch>
          </a:blipFill>
          <a:ln>
            <a:noFill/>
          </a:ln>
        </p:spPr>
      </p:sp>
      <p:sp>
        <p:nvSpPr>
          <p:cNvPr id="277" name="Google Shape;277;p16"/>
          <p:cNvSpPr/>
          <p:nvPr/>
        </p:nvSpPr>
        <p:spPr>
          <a:xfrm>
            <a:off x="14149580" y="8375877"/>
            <a:ext cx="1585152" cy="661801"/>
          </a:xfrm>
          <a:custGeom>
            <a:rect b="b" l="l" r="r" t="t"/>
            <a:pathLst>
              <a:path extrusionOk="0" h="661801" w="1585152">
                <a:moveTo>
                  <a:pt x="0" y="0"/>
                </a:moveTo>
                <a:lnTo>
                  <a:pt x="1585152" y="0"/>
                </a:lnTo>
                <a:lnTo>
                  <a:pt x="1585152" y="661801"/>
                </a:lnTo>
                <a:lnTo>
                  <a:pt x="0" y="661801"/>
                </a:lnTo>
                <a:lnTo>
                  <a:pt x="0" y="0"/>
                </a:lnTo>
                <a:close/>
              </a:path>
            </a:pathLst>
          </a:custGeom>
          <a:blipFill rotWithShape="1">
            <a:blip r:embed="rId5">
              <a:alphaModFix/>
            </a:blip>
            <a:stretch>
              <a:fillRect b="0" l="0" r="0" t="0"/>
            </a:stretch>
          </a:blipFill>
          <a:ln>
            <a:noFill/>
          </a:ln>
        </p:spPr>
      </p:sp>
      <p:sp>
        <p:nvSpPr>
          <p:cNvPr id="278" name="Google Shape;278;p16"/>
          <p:cNvSpPr/>
          <p:nvPr/>
        </p:nvSpPr>
        <p:spPr>
          <a:xfrm>
            <a:off x="-2686404" y="2701023"/>
            <a:ext cx="5372809" cy="5372809"/>
          </a:xfrm>
          <a:custGeom>
            <a:rect b="b" l="l" r="r" t="t"/>
            <a:pathLst>
              <a:path extrusionOk="0" h="5372809" w="5372809">
                <a:moveTo>
                  <a:pt x="0" y="0"/>
                </a:moveTo>
                <a:lnTo>
                  <a:pt x="5372808" y="0"/>
                </a:lnTo>
                <a:lnTo>
                  <a:pt x="5372808" y="5372808"/>
                </a:lnTo>
                <a:lnTo>
                  <a:pt x="0" y="537280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282" name="Shape 282"/>
        <p:cNvGrpSpPr/>
        <p:nvPr/>
      </p:nvGrpSpPr>
      <p:grpSpPr>
        <a:xfrm>
          <a:off x="0" y="0"/>
          <a:ext cx="0" cy="0"/>
          <a:chOff x="0" y="0"/>
          <a:chExt cx="0" cy="0"/>
        </a:xfrm>
      </p:grpSpPr>
      <p:sp>
        <p:nvSpPr>
          <p:cNvPr id="283" name="Google Shape;283;p17"/>
          <p:cNvSpPr/>
          <p:nvPr/>
        </p:nvSpPr>
        <p:spPr>
          <a:xfrm>
            <a:off x="8723593" y="3431106"/>
            <a:ext cx="490769" cy="490769"/>
          </a:xfrm>
          <a:custGeom>
            <a:rect b="b" l="l" r="r" t="t"/>
            <a:pathLst>
              <a:path extrusionOk="0" h="490769" w="490769">
                <a:moveTo>
                  <a:pt x="0" y="0"/>
                </a:moveTo>
                <a:lnTo>
                  <a:pt x="490768" y="0"/>
                </a:lnTo>
                <a:lnTo>
                  <a:pt x="490768" y="490768"/>
                </a:lnTo>
                <a:lnTo>
                  <a:pt x="0" y="490768"/>
                </a:lnTo>
                <a:lnTo>
                  <a:pt x="0" y="0"/>
                </a:lnTo>
                <a:close/>
              </a:path>
            </a:pathLst>
          </a:custGeom>
          <a:blipFill rotWithShape="1">
            <a:blip r:embed="rId3">
              <a:alphaModFix/>
            </a:blip>
            <a:stretch>
              <a:fillRect b="0" l="0" r="0" t="0"/>
            </a:stretch>
          </a:blipFill>
          <a:ln>
            <a:noFill/>
          </a:ln>
        </p:spPr>
      </p:sp>
      <p:sp>
        <p:nvSpPr>
          <p:cNvPr id="284" name="Google Shape;284;p17"/>
          <p:cNvSpPr txBox="1"/>
          <p:nvPr/>
        </p:nvSpPr>
        <p:spPr>
          <a:xfrm>
            <a:off x="2686404" y="1911642"/>
            <a:ext cx="13192324" cy="1519464"/>
          </a:xfrm>
          <a:prstGeom prst="rect">
            <a:avLst/>
          </a:prstGeom>
          <a:noFill/>
          <a:ln>
            <a:noFill/>
          </a:ln>
        </p:spPr>
        <p:txBody>
          <a:bodyPr anchorCtr="0" anchor="t" bIns="0" lIns="0" spcFirstLastPara="1" rIns="0" wrap="square" tIns="0">
            <a:spAutoFit/>
          </a:bodyPr>
          <a:lstStyle/>
          <a:p>
            <a:pPr indent="0" lvl="0" marL="0" marR="0" rtl="0" algn="ctr">
              <a:lnSpc>
                <a:spcPct val="106006"/>
              </a:lnSpc>
              <a:spcBef>
                <a:spcPts val="0"/>
              </a:spcBef>
              <a:spcAft>
                <a:spcPts val="0"/>
              </a:spcAft>
              <a:buNone/>
            </a:pPr>
            <a:r>
              <a:rPr b="1" i="0" lang="en-US" sz="5511" u="none" cap="none" strike="noStrike">
                <a:solidFill>
                  <a:srgbClr val="FFFFFF"/>
                </a:solidFill>
                <a:latin typeface="Arial"/>
                <a:ea typeface="Arial"/>
                <a:cs typeface="Arial"/>
                <a:sym typeface="Arial"/>
              </a:rPr>
              <a:t>ESTIMACIÓN DE COSTOS DEL PROYECTO</a:t>
            </a:r>
            <a:endParaRPr/>
          </a:p>
        </p:txBody>
      </p:sp>
      <p:sp>
        <p:nvSpPr>
          <p:cNvPr id="285" name="Google Shape;285;p17"/>
          <p:cNvSpPr txBox="1"/>
          <p:nvPr/>
        </p:nvSpPr>
        <p:spPr>
          <a:xfrm>
            <a:off x="2686404" y="3469206"/>
            <a:ext cx="12046800" cy="7087200"/>
          </a:xfrm>
          <a:prstGeom prst="rect">
            <a:avLst/>
          </a:prstGeom>
          <a:noFill/>
          <a:ln>
            <a:noFill/>
          </a:ln>
        </p:spPr>
        <p:txBody>
          <a:bodyPr anchorCtr="0" anchor="t" bIns="0" lIns="0" spcFirstLastPara="1" rIns="0" wrap="square" tIns="0">
            <a:spAutoFit/>
          </a:bodyPr>
          <a:lstStyle/>
          <a:p>
            <a:pPr indent="0" lvl="0" marL="0" marR="0" rtl="0" algn="ctr">
              <a:lnSpc>
                <a:spcPct val="106020"/>
              </a:lnSpc>
              <a:spcBef>
                <a:spcPts val="0"/>
              </a:spcBef>
              <a:spcAft>
                <a:spcPts val="0"/>
              </a:spcAft>
              <a:buNone/>
            </a:pPr>
            <a:r>
              <a:rPr b="0" i="0" lang="en-US" sz="2724" u="none" cap="none" strike="noStrike">
                <a:solidFill>
                  <a:srgbClr val="FFFFFF"/>
                </a:solidFill>
                <a:latin typeface="Arial"/>
                <a:ea typeface="Arial"/>
                <a:cs typeface="Arial"/>
                <a:sym typeface="Arial"/>
              </a:rPr>
              <a:t>Desarrollo Backend (Django + Python)</a:t>
            </a:r>
            <a:endParaRPr/>
          </a:p>
          <a:p>
            <a:pPr indent="0" lvl="0" marL="0" marR="0" rtl="0" algn="ctr">
              <a:lnSpc>
                <a:spcPct val="106020"/>
              </a:lnSpc>
              <a:spcBef>
                <a:spcPts val="0"/>
              </a:spcBef>
              <a:spcAft>
                <a:spcPts val="0"/>
              </a:spcAft>
              <a:buNone/>
            </a:pPr>
            <a:r>
              <a:rPr b="0" i="0" lang="en-US" sz="2724" u="none" cap="none" strike="noStrike">
                <a:solidFill>
                  <a:srgbClr val="FFFFFF"/>
                </a:solidFill>
                <a:latin typeface="Arial"/>
                <a:ea typeface="Arial"/>
                <a:cs typeface="Arial"/>
                <a:sym typeface="Arial"/>
              </a:rPr>
              <a:t>$400.000 CLP</a:t>
            </a:r>
            <a:endParaRPr/>
          </a:p>
          <a:p>
            <a:pPr indent="0" lvl="0" marL="0" marR="0" rtl="0" algn="ctr">
              <a:lnSpc>
                <a:spcPct val="106020"/>
              </a:lnSpc>
              <a:spcBef>
                <a:spcPts val="0"/>
              </a:spcBef>
              <a:spcAft>
                <a:spcPts val="0"/>
              </a:spcAft>
              <a:buNone/>
            </a:pPr>
            <a:r>
              <a:t/>
            </a:r>
            <a:endParaRPr b="0" i="0" sz="2724" u="none" cap="none" strike="noStrike">
              <a:solidFill>
                <a:srgbClr val="FFFFFF"/>
              </a:solidFill>
              <a:latin typeface="Arial"/>
              <a:ea typeface="Arial"/>
              <a:cs typeface="Arial"/>
              <a:sym typeface="Arial"/>
            </a:endParaRPr>
          </a:p>
          <a:p>
            <a:pPr indent="0" lvl="0" marL="0" marR="0" rtl="0" algn="ctr">
              <a:lnSpc>
                <a:spcPct val="106020"/>
              </a:lnSpc>
              <a:spcBef>
                <a:spcPts val="0"/>
              </a:spcBef>
              <a:spcAft>
                <a:spcPts val="0"/>
              </a:spcAft>
              <a:buNone/>
            </a:pPr>
            <a:r>
              <a:rPr b="0" i="0" lang="en-US" sz="2724" u="none" cap="none" strike="noStrike">
                <a:solidFill>
                  <a:srgbClr val="FFFFFF"/>
                </a:solidFill>
                <a:latin typeface="Arial"/>
                <a:ea typeface="Arial"/>
                <a:cs typeface="Arial"/>
                <a:sym typeface="Arial"/>
              </a:rPr>
              <a:t>Desarrollo Frontend</a:t>
            </a:r>
            <a:endParaRPr/>
          </a:p>
          <a:p>
            <a:pPr indent="0" lvl="0" marL="0" marR="0" rtl="0" algn="ctr">
              <a:lnSpc>
                <a:spcPct val="106020"/>
              </a:lnSpc>
              <a:spcBef>
                <a:spcPts val="0"/>
              </a:spcBef>
              <a:spcAft>
                <a:spcPts val="0"/>
              </a:spcAft>
              <a:buNone/>
            </a:pPr>
            <a:r>
              <a:rPr b="0" i="0" lang="en-US" sz="2724" u="none" cap="none" strike="noStrike">
                <a:solidFill>
                  <a:srgbClr val="FFFFFF"/>
                </a:solidFill>
                <a:latin typeface="Arial"/>
                <a:ea typeface="Arial"/>
                <a:cs typeface="Arial"/>
                <a:sym typeface="Arial"/>
              </a:rPr>
              <a:t>$250.000 CLP</a:t>
            </a:r>
            <a:endParaRPr/>
          </a:p>
          <a:p>
            <a:pPr indent="0" lvl="0" marL="0" marR="0" rtl="0" algn="ctr">
              <a:lnSpc>
                <a:spcPct val="106020"/>
              </a:lnSpc>
              <a:spcBef>
                <a:spcPts val="0"/>
              </a:spcBef>
              <a:spcAft>
                <a:spcPts val="0"/>
              </a:spcAft>
              <a:buNone/>
            </a:pPr>
            <a:r>
              <a:t/>
            </a:r>
            <a:endParaRPr b="0" i="0" sz="2724" u="none" cap="none" strike="noStrike">
              <a:solidFill>
                <a:srgbClr val="FFFFFF"/>
              </a:solidFill>
              <a:latin typeface="Arial"/>
              <a:ea typeface="Arial"/>
              <a:cs typeface="Arial"/>
              <a:sym typeface="Arial"/>
            </a:endParaRPr>
          </a:p>
          <a:p>
            <a:pPr indent="0" lvl="0" marL="0" marR="0" rtl="0" algn="ctr">
              <a:lnSpc>
                <a:spcPct val="106020"/>
              </a:lnSpc>
              <a:spcBef>
                <a:spcPts val="0"/>
              </a:spcBef>
              <a:spcAft>
                <a:spcPts val="0"/>
              </a:spcAft>
              <a:buNone/>
            </a:pPr>
            <a:r>
              <a:rPr b="0" i="0" lang="en-US" sz="2724" u="none" cap="none" strike="noStrike">
                <a:solidFill>
                  <a:srgbClr val="FFFFFF"/>
                </a:solidFill>
                <a:latin typeface="Arial"/>
                <a:ea typeface="Arial"/>
                <a:cs typeface="Arial"/>
                <a:sym typeface="Arial"/>
              </a:rPr>
              <a:t>Base de datos</a:t>
            </a:r>
            <a:endParaRPr/>
          </a:p>
          <a:p>
            <a:pPr indent="0" lvl="0" marL="0" marR="0" rtl="0" algn="ctr">
              <a:lnSpc>
                <a:spcPct val="106020"/>
              </a:lnSpc>
              <a:spcBef>
                <a:spcPts val="0"/>
              </a:spcBef>
              <a:spcAft>
                <a:spcPts val="0"/>
              </a:spcAft>
              <a:buNone/>
            </a:pPr>
            <a:r>
              <a:rPr b="0" i="0" lang="en-US" sz="2724" u="none" cap="none" strike="noStrike">
                <a:solidFill>
                  <a:srgbClr val="FFFFFF"/>
                </a:solidFill>
                <a:latin typeface="Arial"/>
                <a:ea typeface="Arial"/>
                <a:cs typeface="Arial"/>
                <a:sym typeface="Arial"/>
              </a:rPr>
              <a:t>$0 CLP</a:t>
            </a:r>
            <a:endParaRPr/>
          </a:p>
          <a:p>
            <a:pPr indent="0" lvl="0" marL="0" marR="0" rtl="0" algn="ctr">
              <a:lnSpc>
                <a:spcPct val="106020"/>
              </a:lnSpc>
              <a:spcBef>
                <a:spcPts val="0"/>
              </a:spcBef>
              <a:spcAft>
                <a:spcPts val="0"/>
              </a:spcAft>
              <a:buNone/>
            </a:pPr>
            <a:r>
              <a:rPr b="0" i="0" lang="en-US" sz="2724" u="none" cap="none" strike="noStrike">
                <a:solidFill>
                  <a:srgbClr val="FFFFFF"/>
                </a:solidFill>
                <a:latin typeface="Arial"/>
                <a:ea typeface="Arial"/>
                <a:cs typeface="Arial"/>
                <a:sym typeface="Arial"/>
              </a:rPr>
              <a:t>Pruebas y documentación</a:t>
            </a:r>
            <a:endParaRPr/>
          </a:p>
          <a:p>
            <a:pPr indent="0" lvl="0" marL="0" marR="0" rtl="0" algn="ctr">
              <a:lnSpc>
                <a:spcPct val="106020"/>
              </a:lnSpc>
              <a:spcBef>
                <a:spcPts val="0"/>
              </a:spcBef>
              <a:spcAft>
                <a:spcPts val="0"/>
              </a:spcAft>
              <a:buNone/>
            </a:pPr>
            <a:r>
              <a:rPr b="0" i="0" lang="en-US" sz="2724" u="none" cap="none" strike="noStrike">
                <a:solidFill>
                  <a:srgbClr val="FFFFFF"/>
                </a:solidFill>
                <a:latin typeface="Arial"/>
                <a:ea typeface="Arial"/>
                <a:cs typeface="Arial"/>
                <a:sym typeface="Arial"/>
              </a:rPr>
              <a:t>$150.000 CLP</a:t>
            </a:r>
            <a:endParaRPr/>
          </a:p>
          <a:p>
            <a:pPr indent="0" lvl="0" marL="0" marR="0" rtl="0" algn="ctr">
              <a:lnSpc>
                <a:spcPct val="106020"/>
              </a:lnSpc>
              <a:spcBef>
                <a:spcPts val="0"/>
              </a:spcBef>
              <a:spcAft>
                <a:spcPts val="0"/>
              </a:spcAft>
              <a:buNone/>
            </a:pPr>
            <a:r>
              <a:t/>
            </a:r>
            <a:endParaRPr b="0" i="0" sz="2724" u="none" cap="none" strike="noStrike">
              <a:solidFill>
                <a:srgbClr val="FFFFFF"/>
              </a:solidFill>
              <a:latin typeface="Arial"/>
              <a:ea typeface="Arial"/>
              <a:cs typeface="Arial"/>
              <a:sym typeface="Arial"/>
            </a:endParaRPr>
          </a:p>
          <a:p>
            <a:pPr indent="0" lvl="0" marL="0" marR="0" rtl="0" algn="ctr">
              <a:lnSpc>
                <a:spcPct val="106020"/>
              </a:lnSpc>
              <a:spcBef>
                <a:spcPts val="0"/>
              </a:spcBef>
              <a:spcAft>
                <a:spcPts val="0"/>
              </a:spcAft>
              <a:buNone/>
            </a:pPr>
            <a:r>
              <a:rPr b="0" i="0" lang="en-US" sz="2724" u="none" cap="none" strike="noStrike">
                <a:solidFill>
                  <a:srgbClr val="FFFFFF"/>
                </a:solidFill>
                <a:latin typeface="Arial"/>
                <a:ea typeface="Arial"/>
                <a:cs typeface="Arial"/>
                <a:sym typeface="Arial"/>
              </a:rPr>
              <a:t>Gestión del proyecto</a:t>
            </a:r>
            <a:endParaRPr/>
          </a:p>
          <a:p>
            <a:pPr indent="0" lvl="0" marL="0" marR="0" rtl="0" algn="ctr">
              <a:lnSpc>
                <a:spcPct val="106020"/>
              </a:lnSpc>
              <a:spcBef>
                <a:spcPts val="0"/>
              </a:spcBef>
              <a:spcAft>
                <a:spcPts val="0"/>
              </a:spcAft>
              <a:buNone/>
            </a:pPr>
            <a:r>
              <a:rPr b="0" i="0" lang="en-US" sz="2724" u="none" cap="none" strike="noStrike">
                <a:solidFill>
                  <a:srgbClr val="FFFFFF"/>
                </a:solidFill>
                <a:latin typeface="Arial"/>
                <a:ea typeface="Arial"/>
                <a:cs typeface="Arial"/>
                <a:sym typeface="Arial"/>
              </a:rPr>
              <a:t>$100.000 CLP</a:t>
            </a:r>
            <a:endParaRPr/>
          </a:p>
          <a:p>
            <a:pPr indent="0" lvl="0" marL="0" marR="0" rtl="0" algn="ctr">
              <a:lnSpc>
                <a:spcPct val="106020"/>
              </a:lnSpc>
              <a:spcBef>
                <a:spcPts val="0"/>
              </a:spcBef>
              <a:spcAft>
                <a:spcPts val="0"/>
              </a:spcAft>
              <a:buNone/>
            </a:pPr>
            <a:r>
              <a:t/>
            </a:r>
            <a:endParaRPr b="0" i="0" sz="2724" u="none" cap="none" strike="noStrike">
              <a:solidFill>
                <a:srgbClr val="FFFFFF"/>
              </a:solidFill>
              <a:latin typeface="Arial"/>
              <a:ea typeface="Arial"/>
              <a:cs typeface="Arial"/>
              <a:sym typeface="Arial"/>
            </a:endParaRPr>
          </a:p>
          <a:p>
            <a:pPr indent="0" lvl="0" marL="0" marR="0" rtl="0" algn="ctr">
              <a:lnSpc>
                <a:spcPct val="106020"/>
              </a:lnSpc>
              <a:spcBef>
                <a:spcPts val="0"/>
              </a:spcBef>
              <a:spcAft>
                <a:spcPts val="0"/>
              </a:spcAft>
              <a:buNone/>
            </a:pPr>
            <a:r>
              <a:rPr lang="en-US" sz="2724">
                <a:solidFill>
                  <a:srgbClr val="FFFFFF"/>
                </a:solidFill>
              </a:rPr>
              <a:t>Total estimado: </a:t>
            </a:r>
            <a:r>
              <a:rPr b="0" i="0" lang="en-US" sz="2724" u="none" cap="none" strike="noStrike">
                <a:solidFill>
                  <a:srgbClr val="FFFFFF"/>
                </a:solidFill>
                <a:latin typeface="Arial"/>
                <a:ea typeface="Arial"/>
                <a:cs typeface="Arial"/>
                <a:sym typeface="Arial"/>
              </a:rPr>
              <a:t>$900.000 CLP aprox.</a:t>
            </a:r>
            <a:endParaRPr/>
          </a:p>
          <a:p>
            <a:pPr indent="0" lvl="0" marL="0" marR="0" rtl="0" algn="ctr">
              <a:lnSpc>
                <a:spcPct val="106020"/>
              </a:lnSpc>
              <a:spcBef>
                <a:spcPts val="0"/>
              </a:spcBef>
              <a:spcAft>
                <a:spcPts val="0"/>
              </a:spcAft>
              <a:buNone/>
            </a:pPr>
            <a:r>
              <a:t/>
            </a:r>
            <a:endParaRPr b="0" i="0" sz="2724" u="none" cap="none" strike="noStrike">
              <a:solidFill>
                <a:srgbClr val="FFFFFF"/>
              </a:solidFill>
              <a:latin typeface="Arial"/>
              <a:ea typeface="Arial"/>
              <a:cs typeface="Arial"/>
              <a:sym typeface="Arial"/>
            </a:endParaRPr>
          </a:p>
        </p:txBody>
      </p:sp>
      <p:sp>
        <p:nvSpPr>
          <p:cNvPr id="286" name="Google Shape;286;p17"/>
          <p:cNvSpPr/>
          <p:nvPr/>
        </p:nvSpPr>
        <p:spPr>
          <a:xfrm>
            <a:off x="14149580" y="8375877"/>
            <a:ext cx="1585152" cy="661801"/>
          </a:xfrm>
          <a:custGeom>
            <a:rect b="b" l="l" r="r" t="t"/>
            <a:pathLst>
              <a:path extrusionOk="0" h="661801" w="1585152">
                <a:moveTo>
                  <a:pt x="0" y="0"/>
                </a:moveTo>
                <a:lnTo>
                  <a:pt x="1585152" y="0"/>
                </a:lnTo>
                <a:lnTo>
                  <a:pt x="1585152" y="661801"/>
                </a:lnTo>
                <a:lnTo>
                  <a:pt x="0" y="661801"/>
                </a:lnTo>
                <a:lnTo>
                  <a:pt x="0" y="0"/>
                </a:lnTo>
                <a:close/>
              </a:path>
            </a:pathLst>
          </a:custGeom>
          <a:blipFill rotWithShape="1">
            <a:blip r:embed="rId4">
              <a:alphaModFix/>
            </a:blip>
            <a:stretch>
              <a:fillRect b="0" l="0" r="0" t="0"/>
            </a:stretch>
          </a:blipFill>
          <a:ln>
            <a:noFill/>
          </a:ln>
        </p:spPr>
      </p:sp>
      <p:sp>
        <p:nvSpPr>
          <p:cNvPr id="287" name="Google Shape;287;p17"/>
          <p:cNvSpPr/>
          <p:nvPr/>
        </p:nvSpPr>
        <p:spPr>
          <a:xfrm>
            <a:off x="-2686404" y="2701023"/>
            <a:ext cx="5372809" cy="5372809"/>
          </a:xfrm>
          <a:custGeom>
            <a:rect b="b" l="l" r="r" t="t"/>
            <a:pathLst>
              <a:path extrusionOk="0" h="5372809" w="5372809">
                <a:moveTo>
                  <a:pt x="0" y="0"/>
                </a:moveTo>
                <a:lnTo>
                  <a:pt x="5372808" y="0"/>
                </a:lnTo>
                <a:lnTo>
                  <a:pt x="5372808" y="5372808"/>
                </a:lnTo>
                <a:lnTo>
                  <a:pt x="0" y="537280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03030"/>
        </a:solidFill>
      </p:bgPr>
    </p:bg>
    <p:spTree>
      <p:nvGrpSpPr>
        <p:cNvPr id="291" name="Shape 291"/>
        <p:cNvGrpSpPr/>
        <p:nvPr/>
      </p:nvGrpSpPr>
      <p:grpSpPr>
        <a:xfrm>
          <a:off x="0" y="0"/>
          <a:ext cx="0" cy="0"/>
          <a:chOff x="0" y="0"/>
          <a:chExt cx="0" cy="0"/>
        </a:xfrm>
      </p:grpSpPr>
      <p:sp>
        <p:nvSpPr>
          <p:cNvPr id="292" name="Google Shape;292;p18"/>
          <p:cNvSpPr txBox="1"/>
          <p:nvPr/>
        </p:nvSpPr>
        <p:spPr>
          <a:xfrm>
            <a:off x="5659236" y="2177758"/>
            <a:ext cx="6969529" cy="1436283"/>
          </a:xfrm>
          <a:prstGeom prst="rect">
            <a:avLst/>
          </a:prstGeom>
          <a:noFill/>
          <a:ln>
            <a:noFill/>
          </a:ln>
        </p:spPr>
        <p:txBody>
          <a:bodyPr anchorCtr="0" anchor="t" bIns="0" lIns="0" spcFirstLastPara="1" rIns="0" wrap="square" tIns="0">
            <a:spAutoFit/>
          </a:bodyPr>
          <a:lstStyle/>
          <a:p>
            <a:pPr indent="0" lvl="0" marL="0" marR="0" rtl="0" algn="ctr">
              <a:lnSpc>
                <a:spcPct val="105986"/>
              </a:lnSpc>
              <a:spcBef>
                <a:spcPts val="0"/>
              </a:spcBef>
              <a:spcAft>
                <a:spcPts val="0"/>
              </a:spcAft>
              <a:buNone/>
            </a:pPr>
            <a:r>
              <a:rPr b="1" i="0" lang="en-US" sz="5245" u="none" cap="none" strike="noStrike">
                <a:solidFill>
                  <a:srgbClr val="FFFFFF"/>
                </a:solidFill>
                <a:latin typeface="Arial"/>
                <a:ea typeface="Arial"/>
                <a:cs typeface="Arial"/>
                <a:sym typeface="Arial"/>
              </a:rPr>
              <a:t>GRACIAS POR SU ATENCIÓN</a:t>
            </a:r>
            <a:endParaRPr/>
          </a:p>
        </p:txBody>
      </p:sp>
      <p:sp>
        <p:nvSpPr>
          <p:cNvPr id="293" name="Google Shape;293;p18"/>
          <p:cNvSpPr/>
          <p:nvPr/>
        </p:nvSpPr>
        <p:spPr>
          <a:xfrm>
            <a:off x="-1028700" y="-48357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